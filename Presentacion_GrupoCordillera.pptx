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1371600"/>
          </a:xfrm>
          <a:prstGeom prst="rect">
            <a:avLst/>
          </a:prstGeom>
          <a:noFill/>
        </p:spPr>
        <p:txBody>
          <a:bodyPr wrap="square">
            <a:spAutoFit/>
          </a:bodyPr>
          <a:lstStyle/>
          <a:p>
            <a:pPr algn="ctr">
              <a:defRPr sz="5200" b="1">
                <a:solidFill>
                  <a:srgbClr val="FFFFFF"/>
                </a:solidFill>
              </a:defRPr>
            </a:pPr>
            <a:r>
              <a:t>Grupo Cordillera</a:t>
            </a: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800" b="0">
                <a:solidFill>
                  <a:srgbClr val="2E86AB"/>
                </a:solidFill>
              </a:defRPr>
            </a:pPr>
            <a:r>
              <a:t>Plataforma de Monitoreo Inteligente</a:t>
            </a:r>
          </a:p>
        </p:txBody>
      </p:sp>
      <p:sp>
        <p:nvSpPr>
          <p:cNvPr id="6" name="TextBox 5"/>
          <p:cNvSpPr txBox="1"/>
          <p:nvPr/>
        </p:nvSpPr>
        <p:spPr>
          <a:xfrm>
            <a:off x="914400" y="3474720"/>
            <a:ext cx="10058400" cy="731520"/>
          </a:xfrm>
          <a:prstGeom prst="rect">
            <a:avLst/>
          </a:prstGeom>
          <a:noFill/>
        </p:spPr>
        <p:txBody>
          <a:bodyPr wrap="square">
            <a:spAutoFit/>
          </a:bodyPr>
          <a:lstStyle/>
          <a:p>
            <a:pPr algn="ctr">
              <a:defRPr sz="1800" b="0">
                <a:solidFill>
                  <a:srgbClr val="CCDDEE"/>
                </a:solidFill>
              </a:defRPr>
            </a:pPr>
            <a:r>
              <a:t>Arquitectura de Microservicios con Spring Boot + React</a:t>
            </a:r>
          </a:p>
        </p:txBody>
      </p:sp>
      <p:sp>
        <p:nvSpPr>
          <p:cNvPr id="7" name="TextBox 6"/>
          <p:cNvSpPr txBox="1"/>
          <p:nvPr/>
        </p:nvSpPr>
        <p:spPr>
          <a:xfrm>
            <a:off x="914400" y="5029200"/>
            <a:ext cx="10058400" cy="457200"/>
          </a:xfrm>
          <a:prstGeom prst="rect">
            <a:avLst/>
          </a:prstGeom>
          <a:noFill/>
        </p:spPr>
        <p:txBody>
          <a:bodyPr wrap="square">
            <a:spAutoFit/>
          </a:bodyPr>
          <a:lstStyle/>
          <a:p>
            <a:pPr algn="ctr">
              <a:defRPr sz="1600" b="0">
                <a:solidFill>
                  <a:srgbClr val="8899AA"/>
                </a:solidFill>
              </a:defRPr>
            </a:pPr>
            <a:r>
              <a:t>Desarrollo Fullstack III — Duoc UC</a:t>
            </a:r>
          </a:p>
        </p:txBody>
      </p:sp>
      <p:sp>
        <p:nvSpPr>
          <p:cNvPr id="8" name="TextBox 7"/>
          <p:cNvSpPr txBox="1"/>
          <p:nvPr/>
        </p:nvSpPr>
        <p:spPr>
          <a:xfrm>
            <a:off x="914400" y="5486400"/>
            <a:ext cx="10058400" cy="457200"/>
          </a:xfrm>
          <a:prstGeom prst="rect">
            <a:avLst/>
          </a:prstGeom>
          <a:noFill/>
        </p:spPr>
        <p:txBody>
          <a:bodyPr wrap="square">
            <a:spAutoFit/>
          </a:bodyPr>
          <a:lstStyle/>
          <a:p>
            <a:pPr algn="ctr">
              <a:defRPr sz="1400" b="0">
                <a:solidFill>
                  <a:srgbClr val="8899AA"/>
                </a:solidFill>
              </a:defRPr>
            </a:pPr>
            <a:r>
              <a:t>Cristian Cerda · Gonzalo Berríos · Jaime Manzo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Problemáticas que Resolvemos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500"/>
              </a:spcAft>
              <a:defRPr sz="1500">
                <a:solidFill>
                  <a:srgbClr val="CCDDEE"/>
                </a:solidFill>
              </a:defRPr>
            </a:pPr>
            <a:r>
              <a:t>• Silos de información — Sistemas independientes (POS, e-commerce, inventarios, finanzas, atención al cliente) sin integración eficiente</a:t>
            </a:r>
          </a:p>
          <a:p>
            <a:pPr>
              <a:spcAft>
                <a:spcPts val="500"/>
              </a:spcAft>
              <a:defRPr sz="1500">
                <a:solidFill>
                  <a:srgbClr val="CCDDEE"/>
                </a:solidFill>
              </a:defRPr>
            </a:pPr>
            <a:r>
              <a:t>• Procesos manuales — Consolidación de datos hecha a mano, con alta probabilidad de error humano</a:t>
            </a:r>
          </a:p>
          <a:p>
            <a:pPr>
              <a:spcAft>
                <a:spcPts val="500"/>
              </a:spcAft>
              <a:defRPr sz="1500">
                <a:solidFill>
                  <a:srgbClr val="CCDDEE"/>
                </a:solidFill>
              </a:defRPr>
            </a:pPr>
            <a:r>
              <a:t>• Datos desactualizados — Sin acceso a información en tiempo real sobre ventas, inventario y desempeño</a:t>
            </a:r>
          </a:p>
          <a:p>
            <a:pPr>
              <a:spcAft>
                <a:spcPts val="500"/>
              </a:spcAft>
              <a:defRPr sz="1500">
                <a:solidFill>
                  <a:srgbClr val="CCDDEE"/>
                </a:solidFill>
              </a:defRPr>
            </a:pPr>
            <a:r>
              <a:t>• Escalabilidad limitada — Sistemas anteriores difíciles de escalar ante el crecimiento del negocio</a:t>
            </a:r>
          </a:p>
          <a:p>
            <a:pPr>
              <a:spcAft>
                <a:spcPts val="500"/>
              </a:spcAft>
              <a:defRPr sz="1500">
                <a:solidFill>
                  <a:srgbClr val="CCDDEE"/>
                </a:solidFill>
              </a:defRPr>
            </a:pPr>
            <a:r>
              <a:t>• Latencia alta — Consultas a BD remota (Neon.tech) de hasta ~10 segundos en frío</a:t>
            </a:r>
          </a:p>
          <a:p>
            <a:pPr>
              <a:spcAft>
                <a:spcPts val="500"/>
              </a:spcAft>
              <a:defRPr sz="1500">
                <a:solidFill>
                  <a:srgbClr val="CCDDEE"/>
                </a:solidFill>
              </a:defRPr>
            </a:pPr>
            <a:r>
              <a:t>• Toma de decisiones riesgosa — Decisiones basadas en información desactualizada o incompleta</a:t>
            </a:r>
          </a:p>
          <a:p>
            <a:pPr>
              <a:spcAft>
                <a:spcPts val="500"/>
              </a:spcAft>
              <a:defRPr sz="1500">
                <a:solidFill>
                  <a:srgbClr val="CCDDEE"/>
                </a:solidFill>
              </a:defRPr>
            </a:pPr>
            <a:r>
              <a:t>• Sin plataforma unificada — No existía un único lugar donde centralizar la información del negocio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Arquitectura del Sistema</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CCDDEE"/>
                </a:solidFill>
              </a:defRPr>
            </a:pPr>
            <a:r>
              <a:t>¿Por qué microservicios en vez de monolito?</a:t>
            </a:r>
          </a:p>
        </p:txBody>
      </p:sp>
      <p:sp>
        <p:nvSpPr>
          <p:cNvPr id="5" name="TextBox 4"/>
          <p:cNvSpPr txBox="1"/>
          <p:nvPr/>
        </p:nvSpPr>
        <p:spPr>
          <a:xfrm>
            <a:off x="731520" y="1188720"/>
            <a:ext cx="5486400" cy="457200"/>
          </a:xfrm>
          <a:prstGeom prst="rect">
            <a:avLst/>
          </a:prstGeom>
          <a:noFill/>
        </p:spPr>
        <p:txBody>
          <a:bodyPr wrap="square">
            <a:spAutoFit/>
          </a:bodyPr>
          <a:lstStyle/>
          <a:p>
            <a:pPr algn="l">
              <a:defRPr sz="2200" b="1">
                <a:solidFill>
                  <a:srgbClr val="2E86AB"/>
                </a:solidFill>
              </a:defRPr>
            </a:pPr>
            <a:r>
              <a:t>Arquitectura</a:t>
            </a:r>
          </a:p>
        </p:txBody>
      </p:sp>
      <p:sp>
        <p:nvSpPr>
          <p:cNvPr id="6" name="Rectangle 5"/>
          <p:cNvSpPr/>
          <p:nvPr/>
        </p:nvSpPr>
        <p:spPr>
          <a:xfrm>
            <a:off x="731520" y="1645920"/>
            <a:ext cx="36576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3657600" cy="365760"/>
          </a:xfrm>
          <a:prstGeom prst="rect">
            <a:avLst/>
          </a:prstGeom>
          <a:noFill/>
        </p:spPr>
        <p:txBody>
          <a:bodyPr wrap="square">
            <a:spAutoFit/>
          </a:bodyPr>
          <a:lstStyle/>
          <a:p>
            <a:pPr algn="ctr">
              <a:defRPr sz="1200" b="1">
                <a:solidFill>
                  <a:srgbClr val="FFFFFF"/>
                </a:solidFill>
              </a:defRPr>
            </a:pPr>
            <a:r>
              <a:t>Frontend React 19 + Vite 8</a:t>
            </a:r>
          </a:p>
        </p:txBody>
      </p:sp>
      <p:sp>
        <p:nvSpPr>
          <p:cNvPr id="8" name="Rectangle 7"/>
          <p:cNvSpPr/>
          <p:nvPr/>
        </p:nvSpPr>
        <p:spPr>
          <a:xfrm>
            <a:off x="731520" y="2377440"/>
            <a:ext cx="3657600" cy="457200"/>
          </a:xfrm>
          <a:prstGeom prst="rect">
            <a:avLst/>
          </a:prstGeom>
          <a:solidFill>
            <a:srgbClr val="345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23160"/>
            <a:ext cx="3657600" cy="365760"/>
          </a:xfrm>
          <a:prstGeom prst="rect">
            <a:avLst/>
          </a:prstGeom>
          <a:noFill/>
        </p:spPr>
        <p:txBody>
          <a:bodyPr wrap="square">
            <a:spAutoFit/>
          </a:bodyPr>
          <a:lstStyle/>
          <a:p>
            <a:pPr algn="ctr">
              <a:defRPr sz="1200" b="1">
                <a:solidFill>
                  <a:srgbClr val="FFFFFF"/>
                </a:solidFill>
              </a:defRPr>
            </a:pPr>
            <a:r>
              <a:t>API Gateway (Spring Cloud Gateway) :8084</a:t>
            </a:r>
          </a:p>
        </p:txBody>
      </p:sp>
      <p:sp>
        <p:nvSpPr>
          <p:cNvPr id="10" name="Rectangle 9"/>
          <p:cNvSpPr/>
          <p:nvPr/>
        </p:nvSpPr>
        <p:spPr>
          <a:xfrm>
            <a:off x="731520" y="3108960"/>
            <a:ext cx="3657600" cy="457200"/>
          </a:xfrm>
          <a:prstGeom prst="rect">
            <a:avLst/>
          </a:prstGeom>
          <a:solidFill>
            <a:srgbClr val="2E6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54679"/>
            <a:ext cx="3657600" cy="365760"/>
          </a:xfrm>
          <a:prstGeom prst="rect">
            <a:avLst/>
          </a:prstGeom>
          <a:noFill/>
        </p:spPr>
        <p:txBody>
          <a:bodyPr wrap="square">
            <a:spAutoFit/>
          </a:bodyPr>
          <a:lstStyle/>
          <a:p>
            <a:pPr algn="ctr">
              <a:defRPr sz="1200" b="1">
                <a:solidFill>
                  <a:srgbClr val="FFFFFF"/>
                </a:solidFill>
              </a:defRPr>
            </a:pPr>
            <a:r>
              <a:t>BFF + Auth + Tickets + Reportes :8090</a:t>
            </a:r>
          </a:p>
        </p:txBody>
      </p:sp>
      <p:sp>
        <p:nvSpPr>
          <p:cNvPr id="12" name="Rectangle 11"/>
          <p:cNvSpPr/>
          <p:nvPr/>
        </p:nvSpPr>
        <p:spPr>
          <a:xfrm>
            <a:off x="731520" y="3840480"/>
            <a:ext cx="2560320" cy="457200"/>
          </a:xfrm>
          <a:prstGeom prst="rect">
            <a:avLst/>
          </a:prstGeom>
          <a:solidFill>
            <a:srgbClr val="27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86200"/>
            <a:ext cx="2560320" cy="365760"/>
          </a:xfrm>
          <a:prstGeom prst="rect">
            <a:avLst/>
          </a:prstGeom>
          <a:noFill/>
        </p:spPr>
        <p:txBody>
          <a:bodyPr wrap="square">
            <a:spAutoFit/>
          </a:bodyPr>
          <a:lstStyle/>
          <a:p>
            <a:pPr algn="ctr">
              <a:defRPr sz="1200" b="1">
                <a:solidFill>
                  <a:srgbClr val="FFFFFF"/>
                </a:solidFill>
              </a:defRPr>
            </a:pPr>
            <a:r>
              <a:t>ms-ventas :8081</a:t>
            </a:r>
          </a:p>
        </p:txBody>
      </p:sp>
      <p:sp>
        <p:nvSpPr>
          <p:cNvPr id="14" name="Rectangle 13"/>
          <p:cNvSpPr/>
          <p:nvPr/>
        </p:nvSpPr>
        <p:spPr>
          <a:xfrm>
            <a:off x="731520" y="3840480"/>
            <a:ext cx="2560320" cy="457200"/>
          </a:xfrm>
          <a:prstGeom prst="rect">
            <a:avLst/>
          </a:prstGeom>
          <a:solidFill>
            <a:srgbClr val="27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86200"/>
            <a:ext cx="2560320" cy="365760"/>
          </a:xfrm>
          <a:prstGeom prst="rect">
            <a:avLst/>
          </a:prstGeom>
          <a:noFill/>
        </p:spPr>
        <p:txBody>
          <a:bodyPr wrap="square">
            <a:spAutoFit/>
          </a:bodyPr>
          <a:lstStyle/>
          <a:p>
            <a:pPr algn="ctr">
              <a:defRPr sz="1200" b="1">
                <a:solidFill>
                  <a:srgbClr val="FFFFFF"/>
                </a:solidFill>
              </a:defRPr>
            </a:pPr>
            <a:r>
              <a:t>ms-datos-org :8082</a:t>
            </a:r>
          </a:p>
        </p:txBody>
      </p:sp>
      <p:sp>
        <p:nvSpPr>
          <p:cNvPr id="16" name="Rectangle 15"/>
          <p:cNvSpPr/>
          <p:nvPr/>
        </p:nvSpPr>
        <p:spPr>
          <a:xfrm>
            <a:off x="731520" y="3840480"/>
            <a:ext cx="2560320" cy="457200"/>
          </a:xfrm>
          <a:prstGeom prst="rect">
            <a:avLst/>
          </a:prstGeom>
          <a:solidFill>
            <a:srgbClr val="27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86200"/>
            <a:ext cx="2560320" cy="365760"/>
          </a:xfrm>
          <a:prstGeom prst="rect">
            <a:avLst/>
          </a:prstGeom>
          <a:noFill/>
        </p:spPr>
        <p:txBody>
          <a:bodyPr wrap="square">
            <a:spAutoFit/>
          </a:bodyPr>
          <a:lstStyle/>
          <a:p>
            <a:pPr algn="ctr">
              <a:defRPr sz="1200" b="1">
                <a:solidFill>
                  <a:srgbClr val="FFFFFF"/>
                </a:solidFill>
              </a:defRPr>
            </a:pPr>
            <a:r>
              <a:t>ms-indicadores :8083</a:t>
            </a:r>
          </a:p>
        </p:txBody>
      </p:sp>
      <p:sp>
        <p:nvSpPr>
          <p:cNvPr id="18" name="TextBox 17"/>
          <p:cNvSpPr txBox="1"/>
          <p:nvPr/>
        </p:nvSpPr>
        <p:spPr>
          <a:xfrm>
            <a:off x="6858000" y="1188720"/>
            <a:ext cx="5029200" cy="457200"/>
          </a:xfrm>
          <a:prstGeom prst="rect">
            <a:avLst/>
          </a:prstGeom>
          <a:noFill/>
        </p:spPr>
        <p:txBody>
          <a:bodyPr wrap="square">
            <a:spAutoFit/>
          </a:bodyPr>
          <a:lstStyle/>
          <a:p>
            <a:pPr algn="l">
              <a:defRPr sz="2200" b="1">
                <a:solidFill>
                  <a:srgbClr val="2E86AB"/>
                </a:solidFill>
              </a:defRPr>
            </a:pPr>
            <a:r>
              <a:t>¿Por qué microservicios?</a:t>
            </a:r>
          </a:p>
        </p:txBody>
      </p:sp>
      <p:sp>
        <p:nvSpPr>
          <p:cNvPr id="19" name="TextBox 18"/>
          <p:cNvSpPr txBox="1"/>
          <p:nvPr/>
        </p:nvSpPr>
        <p:spPr>
          <a:xfrm>
            <a:off x="6858000" y="1737360"/>
            <a:ext cx="5029200" cy="4572000"/>
          </a:xfrm>
          <a:prstGeom prst="rect">
            <a:avLst/>
          </a:prstGeom>
          <a:noFill/>
        </p:spPr>
        <p:txBody>
          <a:bodyPr wrap="square">
            <a:spAutoFit/>
          </a:bodyPr>
          <a:lstStyle/>
          <a:p>
            <a:pPr>
              <a:spcAft>
                <a:spcPts val="500"/>
              </a:spcAft>
              <a:defRPr sz="1500">
                <a:solidFill>
                  <a:srgbClr val="CCDDEE"/>
                </a:solidFill>
              </a:defRPr>
            </a:pPr>
            <a:r>
              <a:t>• Desacoplamiento funcional — Cada servicio tiene su schema y responsabilidad</a:t>
            </a:r>
          </a:p>
          <a:p>
            <a:pPr>
              <a:spcAft>
                <a:spcPts val="500"/>
              </a:spcAft>
              <a:defRPr sz="1500">
                <a:solidFill>
                  <a:srgbClr val="CCDDEE"/>
                </a:solidFill>
              </a:defRPr>
            </a:pPr>
            <a:r>
              <a:t>• Escalabilidad independiente — Escalar solo el servicio necesario</a:t>
            </a:r>
          </a:p>
          <a:p>
            <a:pPr>
              <a:spcAft>
                <a:spcPts val="500"/>
              </a:spcAft>
              <a:defRPr sz="1500">
                <a:solidFill>
                  <a:srgbClr val="CCDDEE"/>
                </a:solidFill>
              </a:defRPr>
            </a:pPr>
            <a:r>
              <a:t>• Tolerancia a fallos aislada — Si cae ms-ventas, los demás siguen funcionando</a:t>
            </a:r>
          </a:p>
          <a:p>
            <a:pPr>
              <a:spcAft>
                <a:spcPts val="500"/>
              </a:spcAft>
              <a:defRPr sz="1500">
                <a:solidFill>
                  <a:srgbClr val="CCDDEE"/>
                </a:solidFill>
              </a:defRPr>
            </a:pPr>
            <a:r>
              <a:t>• Equipos paralelos — Múltiples devs trabajando simultáneamente (9 ramas Git)</a:t>
            </a:r>
          </a:p>
          <a:p>
            <a:pPr>
              <a:spcAft>
                <a:spcPts val="500"/>
              </a:spcAft>
              <a:defRPr sz="1500">
                <a:solidFill>
                  <a:srgbClr val="CCDDEE"/>
                </a:solidFill>
              </a:defRPr>
            </a:pPr>
            <a:r>
              <a:t>• Despliegue independiente — Cada servicio con su propio Dockerfile</a:t>
            </a:r>
          </a:p>
          <a:p>
            <a:pPr>
              <a:spcAft>
                <a:spcPts val="500"/>
              </a:spcAft>
              <a:defRPr sz="1500">
                <a:solidFill>
                  <a:srgbClr val="CCDDEE"/>
                </a:solidFill>
              </a:defRPr>
            </a:pPr>
            <a:r>
              <a:t>• Mantenibilidad — Código más pequeño, enfocado y testeable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Stack Tecnológico</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CCDDEE"/>
                </a:solidFill>
              </a:defRPr>
            </a:pPr>
            <a:r>
              <a:t>Justificación de cada decisión tecnológica</a:t>
            </a:r>
          </a:p>
        </p:txBody>
      </p:sp>
      <p:sp>
        <p:nvSpPr>
          <p:cNvPr id="5" name="Rectangle 4"/>
          <p:cNvSpPr/>
          <p:nvPr/>
        </p:nvSpPr>
        <p:spPr>
          <a:xfrm>
            <a:off x="731520" y="1280160"/>
            <a:ext cx="2926080" cy="5486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2926080" cy="457200"/>
          </a:xfrm>
          <a:prstGeom prst="rect">
            <a:avLst/>
          </a:prstGeom>
          <a:noFill/>
        </p:spPr>
        <p:txBody>
          <a:bodyPr wrap="square">
            <a:spAutoFit/>
          </a:bodyPr>
          <a:lstStyle/>
          <a:p>
            <a:pPr algn="ctr">
              <a:defRPr sz="1200" b="1">
                <a:solidFill>
                  <a:srgbClr val="FFFFFF"/>
                </a:solidFill>
              </a:defRPr>
            </a:pPr>
            <a:r>
              <a:t>Spring Boot 3.2 + Java 21</a:t>
            </a:r>
          </a:p>
        </p:txBody>
      </p:sp>
      <p:sp>
        <p:nvSpPr>
          <p:cNvPr id="7" name="TextBox 6"/>
          <p:cNvSpPr txBox="1"/>
          <p:nvPr/>
        </p:nvSpPr>
        <p:spPr>
          <a:xfrm>
            <a:off x="3931920" y="1325880"/>
            <a:ext cx="7772400" cy="457200"/>
          </a:xfrm>
          <a:prstGeom prst="rect">
            <a:avLst/>
          </a:prstGeom>
          <a:noFill/>
        </p:spPr>
        <p:txBody>
          <a:bodyPr wrap="square">
            <a:spAutoFit/>
          </a:bodyPr>
          <a:lstStyle/>
          <a:p>
            <a:pPr algn="l">
              <a:defRPr sz="1100" b="0">
                <a:solidFill>
                  <a:srgbClr val="CCDDEE"/>
                </a:solidFill>
              </a:defRPr>
            </a:pPr>
            <a:r>
              <a:t>Tipado fuerte que reduce errores en compilación; ecosistema maduro para microservicios (Cloud Gateway, Circuit Breaker, JPA); rendimiento superior en I/O; integración nativa con arquetipos Maven</a:t>
            </a:r>
          </a:p>
        </p:txBody>
      </p:sp>
      <p:sp>
        <p:nvSpPr>
          <p:cNvPr id="8" name="Rectangle 7"/>
          <p:cNvSpPr/>
          <p:nvPr/>
        </p:nvSpPr>
        <p:spPr>
          <a:xfrm>
            <a:off x="731520" y="2121408"/>
            <a:ext cx="2926080" cy="5486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67127"/>
            <a:ext cx="2926080" cy="457200"/>
          </a:xfrm>
          <a:prstGeom prst="rect">
            <a:avLst/>
          </a:prstGeom>
          <a:noFill/>
        </p:spPr>
        <p:txBody>
          <a:bodyPr wrap="square">
            <a:spAutoFit/>
          </a:bodyPr>
          <a:lstStyle/>
          <a:p>
            <a:pPr algn="ctr">
              <a:defRPr sz="1200" b="1">
                <a:solidFill>
                  <a:srgbClr val="FFFFFF"/>
                </a:solidFill>
              </a:defRPr>
            </a:pPr>
            <a:r>
              <a:t>PostgreSQL (Neon.tech) con schemas separados</a:t>
            </a:r>
          </a:p>
        </p:txBody>
      </p:sp>
      <p:sp>
        <p:nvSpPr>
          <p:cNvPr id="10" name="TextBox 9"/>
          <p:cNvSpPr txBox="1"/>
          <p:nvPr/>
        </p:nvSpPr>
        <p:spPr>
          <a:xfrm>
            <a:off x="3931920" y="2167127"/>
            <a:ext cx="7772400" cy="457200"/>
          </a:xfrm>
          <a:prstGeom prst="rect">
            <a:avLst/>
          </a:prstGeom>
          <a:noFill/>
        </p:spPr>
        <p:txBody>
          <a:bodyPr wrap="square">
            <a:spAutoFit/>
          </a:bodyPr>
          <a:lstStyle/>
          <a:p>
            <a:pPr algn="l">
              <a:defRPr sz="1100" b="0">
                <a:solidFill>
                  <a:srgbClr val="CCDDEE"/>
                </a:solidFill>
              </a:defRPr>
            </a:pPr>
            <a:r>
              <a:t>Una sola instancia con 3 schemas (ventas, datos_org, indicadores) mantiene aislamiento lógico pero simplifica operación y reduce costos vs. BDs separadas</a:t>
            </a:r>
          </a:p>
        </p:txBody>
      </p:sp>
      <p:sp>
        <p:nvSpPr>
          <p:cNvPr id="11" name="Rectangle 10"/>
          <p:cNvSpPr/>
          <p:nvPr/>
        </p:nvSpPr>
        <p:spPr>
          <a:xfrm>
            <a:off x="731520" y="2962656"/>
            <a:ext cx="2926080" cy="5486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008376"/>
            <a:ext cx="2926080" cy="457200"/>
          </a:xfrm>
          <a:prstGeom prst="rect">
            <a:avLst/>
          </a:prstGeom>
          <a:noFill/>
        </p:spPr>
        <p:txBody>
          <a:bodyPr wrap="square">
            <a:spAutoFit/>
          </a:bodyPr>
          <a:lstStyle/>
          <a:p>
            <a:pPr algn="ctr">
              <a:defRPr sz="1200" b="1">
                <a:solidFill>
                  <a:srgbClr val="FFFFFF"/>
                </a:solidFill>
              </a:defRPr>
            </a:pPr>
            <a:r>
              <a:t>Cache en memoria (ConcurrentMapCacheManager)</a:t>
            </a:r>
          </a:p>
        </p:txBody>
      </p:sp>
      <p:sp>
        <p:nvSpPr>
          <p:cNvPr id="13" name="TextBox 12"/>
          <p:cNvSpPr txBox="1"/>
          <p:nvPr/>
        </p:nvSpPr>
        <p:spPr>
          <a:xfrm>
            <a:off x="3931920" y="3008376"/>
            <a:ext cx="7772400" cy="457200"/>
          </a:xfrm>
          <a:prstGeom prst="rect">
            <a:avLst/>
          </a:prstGeom>
          <a:noFill/>
        </p:spPr>
        <p:txBody>
          <a:bodyPr wrap="square">
            <a:spAutoFit/>
          </a:bodyPr>
          <a:lstStyle/>
          <a:p>
            <a:pPr algn="l">
              <a:defRPr sz="1100" b="0">
                <a:solidFill>
                  <a:srgbClr val="CCDDEE"/>
                </a:solidFill>
              </a:defRPr>
            </a:pPr>
            <a:r>
              <a:t>Suficiente para volumen actual (~1772 ventas, 60 productos, 35 empleados); reduce latencia de ~10s a &lt;70ms; sin infraestructura adicional como Redis</a:t>
            </a:r>
          </a:p>
        </p:txBody>
      </p:sp>
      <p:sp>
        <p:nvSpPr>
          <p:cNvPr id="14" name="Rectangle 13"/>
          <p:cNvSpPr/>
          <p:nvPr/>
        </p:nvSpPr>
        <p:spPr>
          <a:xfrm>
            <a:off x="731520" y="3803904"/>
            <a:ext cx="2926080" cy="5486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49624"/>
            <a:ext cx="2926080" cy="457200"/>
          </a:xfrm>
          <a:prstGeom prst="rect">
            <a:avLst/>
          </a:prstGeom>
          <a:noFill/>
        </p:spPr>
        <p:txBody>
          <a:bodyPr wrap="square">
            <a:spAutoFit/>
          </a:bodyPr>
          <a:lstStyle/>
          <a:p>
            <a:pPr algn="ctr">
              <a:defRPr sz="1200" b="1">
                <a:solidFill>
                  <a:srgbClr val="FFFFFF"/>
                </a:solidFill>
              </a:defRPr>
            </a:pPr>
            <a:r>
              <a:t>React 19 + Vite 8 + Tailwind CSS v4</a:t>
            </a:r>
          </a:p>
        </p:txBody>
      </p:sp>
      <p:sp>
        <p:nvSpPr>
          <p:cNvPr id="16" name="TextBox 15"/>
          <p:cNvSpPr txBox="1"/>
          <p:nvPr/>
        </p:nvSpPr>
        <p:spPr>
          <a:xfrm>
            <a:off x="3931920" y="3849624"/>
            <a:ext cx="7772400" cy="457200"/>
          </a:xfrm>
          <a:prstGeom prst="rect">
            <a:avLst/>
          </a:prstGeom>
          <a:noFill/>
        </p:spPr>
        <p:txBody>
          <a:bodyPr wrap="square">
            <a:spAutoFit/>
          </a:bodyPr>
          <a:lstStyle/>
          <a:p>
            <a:pPr algn="l">
              <a:defRPr sz="1100" b="0">
                <a:solidFill>
                  <a:srgbClr val="CCDDEE"/>
                </a:solidFill>
              </a:defRPr>
            </a:pPr>
            <a:r>
              <a:t>Moderno, rápido con HMR (Hot Module Replacement), estilizado utilitario, amplio ecosistema y comunidad</a:t>
            </a:r>
          </a:p>
        </p:txBody>
      </p:sp>
      <p:sp>
        <p:nvSpPr>
          <p:cNvPr id="17" name="Rectangle 16"/>
          <p:cNvSpPr/>
          <p:nvPr/>
        </p:nvSpPr>
        <p:spPr>
          <a:xfrm>
            <a:off x="731520" y="4645152"/>
            <a:ext cx="2926080" cy="5486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690872"/>
            <a:ext cx="2926080" cy="457200"/>
          </a:xfrm>
          <a:prstGeom prst="rect">
            <a:avLst/>
          </a:prstGeom>
          <a:noFill/>
        </p:spPr>
        <p:txBody>
          <a:bodyPr wrap="square">
            <a:spAutoFit/>
          </a:bodyPr>
          <a:lstStyle/>
          <a:p>
            <a:pPr algn="ctr">
              <a:defRPr sz="1200" b="1">
                <a:solidFill>
                  <a:srgbClr val="FFFFFF"/>
                </a:solidFill>
              </a:defRPr>
            </a:pPr>
            <a:r>
              <a:t>Resilience4j (Circuit Breaker)</a:t>
            </a:r>
          </a:p>
        </p:txBody>
      </p:sp>
      <p:sp>
        <p:nvSpPr>
          <p:cNvPr id="19" name="TextBox 18"/>
          <p:cNvSpPr txBox="1"/>
          <p:nvPr/>
        </p:nvSpPr>
        <p:spPr>
          <a:xfrm>
            <a:off x="3931920" y="4690872"/>
            <a:ext cx="7772400" cy="457200"/>
          </a:xfrm>
          <a:prstGeom prst="rect">
            <a:avLst/>
          </a:prstGeom>
          <a:noFill/>
        </p:spPr>
        <p:txBody>
          <a:bodyPr wrap="square">
            <a:spAutoFit/>
          </a:bodyPr>
          <a:lstStyle/>
          <a:p>
            <a:pPr algn="l">
              <a:defRPr sz="1100" b="0">
                <a:solidFill>
                  <a:srgbClr val="CCDDEE"/>
                </a:solidFill>
              </a:defRPr>
            </a:pPr>
            <a:r>
              <a:t>Ligero y nativo de Spring Cloud Gateway + BFF; protege contra fallos en cascada con fallbacks automáticos</a:t>
            </a:r>
          </a:p>
        </p:txBody>
      </p:sp>
      <p:sp>
        <p:nvSpPr>
          <p:cNvPr id="20" name="Rectangle 19"/>
          <p:cNvSpPr/>
          <p:nvPr/>
        </p:nvSpPr>
        <p:spPr>
          <a:xfrm>
            <a:off x="731520" y="5486400"/>
            <a:ext cx="2926080" cy="5486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532120"/>
            <a:ext cx="2926080" cy="457200"/>
          </a:xfrm>
          <a:prstGeom prst="rect">
            <a:avLst/>
          </a:prstGeom>
          <a:noFill/>
        </p:spPr>
        <p:txBody>
          <a:bodyPr wrap="square">
            <a:spAutoFit/>
          </a:bodyPr>
          <a:lstStyle/>
          <a:p>
            <a:pPr algn="ctr">
              <a:defRPr sz="1200" b="1">
                <a:solidFill>
                  <a:srgbClr val="FFFFFF"/>
                </a:solidFill>
              </a:defRPr>
            </a:pPr>
            <a:r>
              <a:t>Docker Compose</a:t>
            </a:r>
          </a:p>
        </p:txBody>
      </p:sp>
      <p:sp>
        <p:nvSpPr>
          <p:cNvPr id="22" name="TextBox 21"/>
          <p:cNvSpPr txBox="1"/>
          <p:nvPr/>
        </p:nvSpPr>
        <p:spPr>
          <a:xfrm>
            <a:off x="3931920" y="5532120"/>
            <a:ext cx="7772400" cy="457200"/>
          </a:xfrm>
          <a:prstGeom prst="rect">
            <a:avLst/>
          </a:prstGeom>
          <a:noFill/>
        </p:spPr>
        <p:txBody>
          <a:bodyPr wrap="square">
            <a:spAutoFit/>
          </a:bodyPr>
          <a:lstStyle/>
          <a:p>
            <a:pPr algn="l">
              <a:defRPr sz="1100" b="0">
                <a:solidFill>
                  <a:srgbClr val="CCDDEE"/>
                </a:solidFill>
              </a:defRPr>
            </a:pPr>
            <a:r>
              <a:t>Despliegue reproducible con 6 contenedores (5 backend + 1 frontend Nginx); sin dependencia cloud de pago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Patrones de Diseño Implementados</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CCDDEE"/>
                </a:solidFill>
              </a:defRPr>
            </a:pPr>
            <a:r>
              <a:t>Cada patrón resuelve un problema específico</a:t>
            </a:r>
          </a:p>
        </p:txBody>
      </p:sp>
      <p:sp>
        <p:nvSpPr>
          <p:cNvPr id="5" name="Rectangle 4"/>
          <p:cNvSpPr/>
          <p:nvPr/>
        </p:nvSpPr>
        <p:spPr>
          <a:xfrm>
            <a:off x="731520" y="1188720"/>
            <a:ext cx="292608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16152"/>
            <a:ext cx="2926080" cy="320040"/>
          </a:xfrm>
          <a:prstGeom prst="rect">
            <a:avLst/>
          </a:prstGeom>
          <a:noFill/>
        </p:spPr>
        <p:txBody>
          <a:bodyPr wrap="square">
            <a:spAutoFit/>
          </a:bodyPr>
          <a:lstStyle/>
          <a:p>
            <a:pPr algn="ctr">
              <a:defRPr sz="1200" b="1">
                <a:solidFill>
                  <a:srgbClr val="FFFFFF"/>
                </a:solidFill>
              </a:defRPr>
            </a:pPr>
            <a:r>
              <a:t>Patrón</a:t>
            </a:r>
          </a:p>
        </p:txBody>
      </p:sp>
      <p:sp>
        <p:nvSpPr>
          <p:cNvPr id="7" name="Rectangle 6"/>
          <p:cNvSpPr/>
          <p:nvPr/>
        </p:nvSpPr>
        <p:spPr>
          <a:xfrm>
            <a:off x="3840480" y="1188720"/>
            <a:ext cx="438912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1216152"/>
            <a:ext cx="4389120" cy="320040"/>
          </a:xfrm>
          <a:prstGeom prst="rect">
            <a:avLst/>
          </a:prstGeom>
          <a:noFill/>
        </p:spPr>
        <p:txBody>
          <a:bodyPr wrap="square">
            <a:spAutoFit/>
          </a:bodyPr>
          <a:lstStyle/>
          <a:p>
            <a:pPr algn="ctr">
              <a:defRPr sz="1200" b="1">
                <a:solidFill>
                  <a:srgbClr val="FFFFFF"/>
                </a:solidFill>
              </a:defRPr>
            </a:pPr>
            <a:r>
              <a:t>Problema que resuelve</a:t>
            </a:r>
          </a:p>
        </p:txBody>
      </p:sp>
      <p:sp>
        <p:nvSpPr>
          <p:cNvPr id="9" name="Rectangle 8"/>
          <p:cNvSpPr/>
          <p:nvPr/>
        </p:nvSpPr>
        <p:spPr>
          <a:xfrm>
            <a:off x="8412480" y="1188720"/>
            <a:ext cx="13716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216152"/>
            <a:ext cx="1371600" cy="320040"/>
          </a:xfrm>
          <a:prstGeom prst="rect">
            <a:avLst/>
          </a:prstGeom>
          <a:noFill/>
        </p:spPr>
        <p:txBody>
          <a:bodyPr wrap="square">
            <a:spAutoFit/>
          </a:bodyPr>
          <a:lstStyle/>
          <a:p>
            <a:pPr algn="ctr">
              <a:defRPr sz="1200" b="1">
                <a:solidFill>
                  <a:srgbClr val="FFFFFF"/>
                </a:solidFill>
              </a:defRPr>
            </a:pPr>
            <a:r>
              <a:t>SOLID</a:t>
            </a:r>
          </a:p>
        </p:txBody>
      </p:sp>
      <p:sp>
        <p:nvSpPr>
          <p:cNvPr id="11" name="Rectangle 10"/>
          <p:cNvSpPr/>
          <p:nvPr/>
        </p:nvSpPr>
        <p:spPr>
          <a:xfrm>
            <a:off x="9875520" y="1188720"/>
            <a:ext cx="201168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1216152"/>
            <a:ext cx="2011680" cy="320040"/>
          </a:xfrm>
          <a:prstGeom prst="rect">
            <a:avLst/>
          </a:prstGeom>
          <a:noFill/>
        </p:spPr>
        <p:txBody>
          <a:bodyPr wrap="square">
            <a:spAutoFit/>
          </a:bodyPr>
          <a:lstStyle/>
          <a:p>
            <a:pPr algn="ctr">
              <a:defRPr sz="1200" b="1">
                <a:solidFill>
                  <a:srgbClr val="FFFFFF"/>
                </a:solidFill>
              </a:defRPr>
            </a:pPr>
            <a:r>
              <a:t>Ubicación</a:t>
            </a:r>
          </a:p>
        </p:txBody>
      </p:sp>
      <p:sp>
        <p:nvSpPr>
          <p:cNvPr id="13" name="Rectangle 12"/>
          <p:cNvSpPr/>
          <p:nvPr/>
        </p:nvSpPr>
        <p:spPr>
          <a:xfrm>
            <a:off x="731520" y="1645920"/>
            <a:ext cx="29260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1645920"/>
            <a:ext cx="438912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12480" y="1645920"/>
            <a:ext cx="137160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875520" y="1645920"/>
            <a:ext cx="20116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673352"/>
            <a:ext cx="2926080" cy="320040"/>
          </a:xfrm>
          <a:prstGeom prst="rect">
            <a:avLst/>
          </a:prstGeom>
          <a:noFill/>
        </p:spPr>
        <p:txBody>
          <a:bodyPr wrap="square">
            <a:spAutoFit/>
          </a:bodyPr>
          <a:lstStyle/>
          <a:p>
            <a:pPr algn="l">
              <a:defRPr sz="1100" b="1">
                <a:solidFill>
                  <a:srgbClr val="FFFFFF"/>
                </a:solidFill>
              </a:defRPr>
            </a:pPr>
            <a:r>
              <a:t>Repository (JPA)</a:t>
            </a:r>
          </a:p>
        </p:txBody>
      </p:sp>
      <p:sp>
        <p:nvSpPr>
          <p:cNvPr id="18" name="TextBox 17"/>
          <p:cNvSpPr txBox="1"/>
          <p:nvPr/>
        </p:nvSpPr>
        <p:spPr>
          <a:xfrm>
            <a:off x="3840480" y="1673352"/>
            <a:ext cx="4389120" cy="320040"/>
          </a:xfrm>
          <a:prstGeom prst="rect">
            <a:avLst/>
          </a:prstGeom>
          <a:noFill/>
        </p:spPr>
        <p:txBody>
          <a:bodyPr wrap="square">
            <a:spAutoFit/>
          </a:bodyPr>
          <a:lstStyle/>
          <a:p>
            <a:pPr algn="l">
              <a:defRPr sz="1000" b="0">
                <a:solidFill>
                  <a:srgbClr val="CCDDEE"/>
                </a:solidFill>
              </a:defRPr>
            </a:pPr>
            <a:r>
              <a:t>Desacopla lógica de negocio de la persistencia</a:t>
            </a:r>
          </a:p>
        </p:txBody>
      </p:sp>
      <p:sp>
        <p:nvSpPr>
          <p:cNvPr id="19" name="TextBox 18"/>
          <p:cNvSpPr txBox="1"/>
          <p:nvPr/>
        </p:nvSpPr>
        <p:spPr>
          <a:xfrm>
            <a:off x="8412480" y="1673352"/>
            <a:ext cx="1371600" cy="320040"/>
          </a:xfrm>
          <a:prstGeom prst="rect">
            <a:avLst/>
          </a:prstGeom>
          <a:noFill/>
        </p:spPr>
        <p:txBody>
          <a:bodyPr wrap="square">
            <a:spAutoFit/>
          </a:bodyPr>
          <a:lstStyle/>
          <a:p>
            <a:pPr algn="ctr">
              <a:defRPr sz="1000" b="0">
                <a:solidFill>
                  <a:srgbClr val="22C55E"/>
                </a:solidFill>
              </a:defRPr>
            </a:pPr>
            <a:r>
              <a:t>SRP</a:t>
            </a:r>
          </a:p>
        </p:txBody>
      </p:sp>
      <p:sp>
        <p:nvSpPr>
          <p:cNvPr id="20" name="TextBox 19"/>
          <p:cNvSpPr txBox="1"/>
          <p:nvPr/>
        </p:nvSpPr>
        <p:spPr>
          <a:xfrm>
            <a:off x="9875520" y="1673352"/>
            <a:ext cx="2011680" cy="320040"/>
          </a:xfrm>
          <a:prstGeom prst="rect">
            <a:avLst/>
          </a:prstGeom>
          <a:noFill/>
        </p:spPr>
        <p:txBody>
          <a:bodyPr wrap="square">
            <a:spAutoFit/>
          </a:bodyPr>
          <a:lstStyle/>
          <a:p>
            <a:pPr algn="l">
              <a:defRPr sz="1000" b="0">
                <a:solidFill>
                  <a:srgbClr val="CCDDEE"/>
                </a:solidFill>
              </a:defRPr>
            </a:pPr>
            <a:r>
              <a:t>Todos los módulos</a:t>
            </a:r>
          </a:p>
        </p:txBody>
      </p:sp>
      <p:sp>
        <p:nvSpPr>
          <p:cNvPr id="21" name="Rectangle 20"/>
          <p:cNvSpPr/>
          <p:nvPr/>
        </p:nvSpPr>
        <p:spPr>
          <a:xfrm>
            <a:off x="731520" y="2121408"/>
            <a:ext cx="29260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40480" y="2121408"/>
            <a:ext cx="438912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12480" y="2121408"/>
            <a:ext cx="137160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75520" y="2121408"/>
            <a:ext cx="20116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148840"/>
            <a:ext cx="2926080" cy="320040"/>
          </a:xfrm>
          <a:prstGeom prst="rect">
            <a:avLst/>
          </a:prstGeom>
          <a:noFill/>
        </p:spPr>
        <p:txBody>
          <a:bodyPr wrap="square">
            <a:spAutoFit/>
          </a:bodyPr>
          <a:lstStyle/>
          <a:p>
            <a:pPr algn="l">
              <a:defRPr sz="1100" b="1">
                <a:solidFill>
                  <a:srgbClr val="FFFFFF"/>
                </a:solidFill>
              </a:defRPr>
            </a:pPr>
            <a:r>
              <a:t>Factory Method</a:t>
            </a:r>
          </a:p>
        </p:txBody>
      </p:sp>
      <p:sp>
        <p:nvSpPr>
          <p:cNvPr id="26" name="TextBox 25"/>
          <p:cNvSpPr txBox="1"/>
          <p:nvPr/>
        </p:nvSpPr>
        <p:spPr>
          <a:xfrm>
            <a:off x="3840480" y="2148840"/>
            <a:ext cx="4389120" cy="320040"/>
          </a:xfrm>
          <a:prstGeom prst="rect">
            <a:avLst/>
          </a:prstGeom>
          <a:noFill/>
        </p:spPr>
        <p:txBody>
          <a:bodyPr wrap="square">
            <a:spAutoFit/>
          </a:bodyPr>
          <a:lstStyle/>
          <a:p>
            <a:pPr algn="l">
              <a:defRPr sz="1000" b="0">
                <a:solidFill>
                  <a:srgbClr val="CCDDEE"/>
                </a:solidFill>
              </a:defRPr>
            </a:pPr>
            <a:r>
              <a:t>Centraliza creación de objetos complejos</a:t>
            </a:r>
          </a:p>
        </p:txBody>
      </p:sp>
      <p:sp>
        <p:nvSpPr>
          <p:cNvPr id="27" name="TextBox 26"/>
          <p:cNvSpPr txBox="1"/>
          <p:nvPr/>
        </p:nvSpPr>
        <p:spPr>
          <a:xfrm>
            <a:off x="8412480" y="2148840"/>
            <a:ext cx="1371600" cy="320040"/>
          </a:xfrm>
          <a:prstGeom prst="rect">
            <a:avLst/>
          </a:prstGeom>
          <a:noFill/>
        </p:spPr>
        <p:txBody>
          <a:bodyPr wrap="square">
            <a:spAutoFit/>
          </a:bodyPr>
          <a:lstStyle/>
          <a:p>
            <a:pPr algn="ctr">
              <a:defRPr sz="1000" b="0">
                <a:solidFill>
                  <a:srgbClr val="22C55E"/>
                </a:solidFill>
              </a:defRPr>
            </a:pPr>
            <a:r>
              <a:t>OCP</a:t>
            </a:r>
          </a:p>
        </p:txBody>
      </p:sp>
      <p:sp>
        <p:nvSpPr>
          <p:cNvPr id="28" name="TextBox 27"/>
          <p:cNvSpPr txBox="1"/>
          <p:nvPr/>
        </p:nvSpPr>
        <p:spPr>
          <a:xfrm>
            <a:off x="9875520" y="2148840"/>
            <a:ext cx="2011680" cy="320040"/>
          </a:xfrm>
          <a:prstGeom prst="rect">
            <a:avLst/>
          </a:prstGeom>
          <a:noFill/>
        </p:spPr>
        <p:txBody>
          <a:bodyPr wrap="square">
            <a:spAutoFit/>
          </a:bodyPr>
          <a:lstStyle/>
          <a:p>
            <a:pPr algn="l">
              <a:defRPr sz="1000" b="0">
                <a:solidFill>
                  <a:srgbClr val="CCDDEE"/>
                </a:solidFill>
              </a:defRPr>
            </a:pPr>
            <a:r>
              <a:t>ms-datos-org, ms-indicadores</a:t>
            </a:r>
          </a:p>
        </p:txBody>
      </p:sp>
      <p:sp>
        <p:nvSpPr>
          <p:cNvPr id="29" name="Rectangle 28"/>
          <p:cNvSpPr/>
          <p:nvPr/>
        </p:nvSpPr>
        <p:spPr>
          <a:xfrm>
            <a:off x="731520" y="2596896"/>
            <a:ext cx="29260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40480" y="2596896"/>
            <a:ext cx="438912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412480" y="2596896"/>
            <a:ext cx="137160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75520" y="2596896"/>
            <a:ext cx="20116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2624327"/>
            <a:ext cx="2926080" cy="320040"/>
          </a:xfrm>
          <a:prstGeom prst="rect">
            <a:avLst/>
          </a:prstGeom>
          <a:noFill/>
        </p:spPr>
        <p:txBody>
          <a:bodyPr wrap="square">
            <a:spAutoFit/>
          </a:bodyPr>
          <a:lstStyle/>
          <a:p>
            <a:pPr algn="l">
              <a:defRPr sz="1100" b="1">
                <a:solidFill>
                  <a:srgbClr val="FFFFFF"/>
                </a:solidFill>
              </a:defRPr>
            </a:pPr>
            <a:r>
              <a:t>Strategy</a:t>
            </a:r>
          </a:p>
        </p:txBody>
      </p:sp>
      <p:sp>
        <p:nvSpPr>
          <p:cNvPr id="34" name="TextBox 33"/>
          <p:cNvSpPr txBox="1"/>
          <p:nvPr/>
        </p:nvSpPr>
        <p:spPr>
          <a:xfrm>
            <a:off x="3840480" y="2624327"/>
            <a:ext cx="4389120" cy="320040"/>
          </a:xfrm>
          <a:prstGeom prst="rect">
            <a:avLst/>
          </a:prstGeom>
          <a:noFill/>
        </p:spPr>
        <p:txBody>
          <a:bodyPr wrap="square">
            <a:spAutoFit/>
          </a:bodyPr>
          <a:lstStyle/>
          <a:p>
            <a:pPr algn="l">
              <a:defRPr sz="1000" b="0">
                <a:solidFill>
                  <a:srgbClr val="CCDDEE"/>
                </a:solidFill>
              </a:defRPr>
            </a:pPr>
            <a:r>
              <a:t>Algoritmos intercambiables de KPI en runtime</a:t>
            </a:r>
          </a:p>
        </p:txBody>
      </p:sp>
      <p:sp>
        <p:nvSpPr>
          <p:cNvPr id="35" name="TextBox 34"/>
          <p:cNvSpPr txBox="1"/>
          <p:nvPr/>
        </p:nvSpPr>
        <p:spPr>
          <a:xfrm>
            <a:off x="8412480" y="2624327"/>
            <a:ext cx="1371600" cy="320040"/>
          </a:xfrm>
          <a:prstGeom prst="rect">
            <a:avLst/>
          </a:prstGeom>
          <a:noFill/>
        </p:spPr>
        <p:txBody>
          <a:bodyPr wrap="square">
            <a:spAutoFit/>
          </a:bodyPr>
          <a:lstStyle/>
          <a:p>
            <a:pPr algn="ctr">
              <a:defRPr sz="1000" b="0">
                <a:solidFill>
                  <a:srgbClr val="22C55E"/>
                </a:solidFill>
              </a:defRPr>
            </a:pPr>
            <a:r>
              <a:t>OCP</a:t>
            </a:r>
          </a:p>
        </p:txBody>
      </p:sp>
      <p:sp>
        <p:nvSpPr>
          <p:cNvPr id="36" name="TextBox 35"/>
          <p:cNvSpPr txBox="1"/>
          <p:nvPr/>
        </p:nvSpPr>
        <p:spPr>
          <a:xfrm>
            <a:off x="9875520" y="2624327"/>
            <a:ext cx="2011680" cy="320040"/>
          </a:xfrm>
          <a:prstGeom prst="rect">
            <a:avLst/>
          </a:prstGeom>
          <a:noFill/>
        </p:spPr>
        <p:txBody>
          <a:bodyPr wrap="square">
            <a:spAutoFit/>
          </a:bodyPr>
          <a:lstStyle/>
          <a:p>
            <a:pPr algn="l">
              <a:defRPr sz="1000" b="0">
                <a:solidFill>
                  <a:srgbClr val="CCDDEE"/>
                </a:solidFill>
              </a:defRPr>
            </a:pPr>
            <a:r>
              <a:t>ms-indicadores</a:t>
            </a:r>
          </a:p>
        </p:txBody>
      </p:sp>
      <p:sp>
        <p:nvSpPr>
          <p:cNvPr id="37" name="Rectangle 36"/>
          <p:cNvSpPr/>
          <p:nvPr/>
        </p:nvSpPr>
        <p:spPr>
          <a:xfrm>
            <a:off x="731520" y="3072384"/>
            <a:ext cx="29260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840480" y="3072384"/>
            <a:ext cx="438912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0" y="3072384"/>
            <a:ext cx="137160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75520" y="3072384"/>
            <a:ext cx="20116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099816"/>
            <a:ext cx="2926080" cy="320040"/>
          </a:xfrm>
          <a:prstGeom prst="rect">
            <a:avLst/>
          </a:prstGeom>
          <a:noFill/>
        </p:spPr>
        <p:txBody>
          <a:bodyPr wrap="square">
            <a:spAutoFit/>
          </a:bodyPr>
          <a:lstStyle/>
          <a:p>
            <a:pPr algn="l">
              <a:defRPr sz="1100" b="1">
                <a:solidFill>
                  <a:srgbClr val="FFFFFF"/>
                </a:solidFill>
              </a:defRPr>
            </a:pPr>
            <a:r>
              <a:t>Observer (Eventos)</a:t>
            </a:r>
          </a:p>
        </p:txBody>
      </p:sp>
      <p:sp>
        <p:nvSpPr>
          <p:cNvPr id="42" name="TextBox 41"/>
          <p:cNvSpPr txBox="1"/>
          <p:nvPr/>
        </p:nvSpPr>
        <p:spPr>
          <a:xfrm>
            <a:off x="3840480" y="3099816"/>
            <a:ext cx="4389120" cy="320040"/>
          </a:xfrm>
          <a:prstGeom prst="rect">
            <a:avLst/>
          </a:prstGeom>
          <a:noFill/>
        </p:spPr>
        <p:txBody>
          <a:bodyPr wrap="square">
            <a:spAutoFit/>
          </a:bodyPr>
          <a:lstStyle/>
          <a:p>
            <a:pPr algn="l">
              <a:defRPr sz="1000" b="0">
                <a:solidFill>
                  <a:srgbClr val="CCDDEE"/>
                </a:solidFill>
              </a:defRPr>
            </a:pPr>
            <a:r>
              <a:t>Múltiples reacciones a venta sin acoplar</a:t>
            </a:r>
          </a:p>
        </p:txBody>
      </p:sp>
      <p:sp>
        <p:nvSpPr>
          <p:cNvPr id="43" name="TextBox 42"/>
          <p:cNvSpPr txBox="1"/>
          <p:nvPr/>
        </p:nvSpPr>
        <p:spPr>
          <a:xfrm>
            <a:off x="8412480" y="3099816"/>
            <a:ext cx="1371600" cy="320040"/>
          </a:xfrm>
          <a:prstGeom prst="rect">
            <a:avLst/>
          </a:prstGeom>
          <a:noFill/>
        </p:spPr>
        <p:txBody>
          <a:bodyPr wrap="square">
            <a:spAutoFit/>
          </a:bodyPr>
          <a:lstStyle/>
          <a:p>
            <a:pPr algn="ctr">
              <a:defRPr sz="1000" b="0">
                <a:solidFill>
                  <a:srgbClr val="22C55E"/>
                </a:solidFill>
              </a:defRPr>
            </a:pPr>
            <a:r>
              <a:t>DIP</a:t>
            </a:r>
          </a:p>
        </p:txBody>
      </p:sp>
      <p:sp>
        <p:nvSpPr>
          <p:cNvPr id="44" name="TextBox 43"/>
          <p:cNvSpPr txBox="1"/>
          <p:nvPr/>
        </p:nvSpPr>
        <p:spPr>
          <a:xfrm>
            <a:off x="9875520" y="3099816"/>
            <a:ext cx="2011680" cy="320040"/>
          </a:xfrm>
          <a:prstGeom prst="rect">
            <a:avLst/>
          </a:prstGeom>
          <a:noFill/>
        </p:spPr>
        <p:txBody>
          <a:bodyPr wrap="square">
            <a:spAutoFit/>
          </a:bodyPr>
          <a:lstStyle/>
          <a:p>
            <a:pPr algn="l">
              <a:defRPr sz="1000" b="0">
                <a:solidFill>
                  <a:srgbClr val="CCDDEE"/>
                </a:solidFill>
              </a:defRPr>
            </a:pPr>
            <a:r>
              <a:t>ms-ventas</a:t>
            </a:r>
          </a:p>
        </p:txBody>
      </p:sp>
      <p:sp>
        <p:nvSpPr>
          <p:cNvPr id="45" name="Rectangle 44"/>
          <p:cNvSpPr/>
          <p:nvPr/>
        </p:nvSpPr>
        <p:spPr>
          <a:xfrm>
            <a:off x="731520" y="3547872"/>
            <a:ext cx="29260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840480" y="3547872"/>
            <a:ext cx="438912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12480" y="3547872"/>
            <a:ext cx="137160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875520" y="3547872"/>
            <a:ext cx="20116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3575303"/>
            <a:ext cx="2926080" cy="320040"/>
          </a:xfrm>
          <a:prstGeom prst="rect">
            <a:avLst/>
          </a:prstGeom>
          <a:noFill/>
        </p:spPr>
        <p:txBody>
          <a:bodyPr wrap="square">
            <a:spAutoFit/>
          </a:bodyPr>
          <a:lstStyle/>
          <a:p>
            <a:pPr algn="l">
              <a:defRPr sz="1100" b="1">
                <a:solidFill>
                  <a:srgbClr val="FFFFFF"/>
                </a:solidFill>
              </a:defRPr>
            </a:pPr>
            <a:r>
              <a:t>Builder</a:t>
            </a:r>
          </a:p>
        </p:txBody>
      </p:sp>
      <p:sp>
        <p:nvSpPr>
          <p:cNvPr id="50" name="TextBox 49"/>
          <p:cNvSpPr txBox="1"/>
          <p:nvPr/>
        </p:nvSpPr>
        <p:spPr>
          <a:xfrm>
            <a:off x="3840480" y="3575303"/>
            <a:ext cx="4389120" cy="320040"/>
          </a:xfrm>
          <a:prstGeom prst="rect">
            <a:avLst/>
          </a:prstGeom>
          <a:noFill/>
        </p:spPr>
        <p:txBody>
          <a:bodyPr wrap="square">
            <a:spAutoFit/>
          </a:bodyPr>
          <a:lstStyle/>
          <a:p>
            <a:pPr algn="l">
              <a:defRPr sz="1000" b="0">
                <a:solidFill>
                  <a:srgbClr val="CCDDEE"/>
                </a:solidFill>
              </a:defRPr>
            </a:pPr>
            <a:r>
              <a:t>Construcción paso a paso de Venta con validación</a:t>
            </a:r>
          </a:p>
        </p:txBody>
      </p:sp>
      <p:sp>
        <p:nvSpPr>
          <p:cNvPr id="51" name="TextBox 50"/>
          <p:cNvSpPr txBox="1"/>
          <p:nvPr/>
        </p:nvSpPr>
        <p:spPr>
          <a:xfrm>
            <a:off x="8412480" y="3575303"/>
            <a:ext cx="1371600" cy="320040"/>
          </a:xfrm>
          <a:prstGeom prst="rect">
            <a:avLst/>
          </a:prstGeom>
          <a:noFill/>
        </p:spPr>
        <p:txBody>
          <a:bodyPr wrap="square">
            <a:spAutoFit/>
          </a:bodyPr>
          <a:lstStyle/>
          <a:p>
            <a:pPr algn="ctr">
              <a:defRPr sz="1000" b="0">
                <a:solidFill>
                  <a:srgbClr val="22C55E"/>
                </a:solidFill>
              </a:defRPr>
            </a:pPr>
            <a:r>
              <a:t>SRP</a:t>
            </a:r>
          </a:p>
        </p:txBody>
      </p:sp>
      <p:sp>
        <p:nvSpPr>
          <p:cNvPr id="52" name="TextBox 51"/>
          <p:cNvSpPr txBox="1"/>
          <p:nvPr/>
        </p:nvSpPr>
        <p:spPr>
          <a:xfrm>
            <a:off x="9875520" y="3575303"/>
            <a:ext cx="2011680" cy="320040"/>
          </a:xfrm>
          <a:prstGeom prst="rect">
            <a:avLst/>
          </a:prstGeom>
          <a:noFill/>
        </p:spPr>
        <p:txBody>
          <a:bodyPr wrap="square">
            <a:spAutoFit/>
          </a:bodyPr>
          <a:lstStyle/>
          <a:p>
            <a:pPr algn="l">
              <a:defRPr sz="1000" b="0">
                <a:solidFill>
                  <a:srgbClr val="CCDDEE"/>
                </a:solidFill>
              </a:defRPr>
            </a:pPr>
            <a:r>
              <a:t>ms-ventas</a:t>
            </a:r>
          </a:p>
        </p:txBody>
      </p:sp>
      <p:sp>
        <p:nvSpPr>
          <p:cNvPr id="53" name="Rectangle 52"/>
          <p:cNvSpPr/>
          <p:nvPr/>
        </p:nvSpPr>
        <p:spPr>
          <a:xfrm>
            <a:off x="731520" y="4023360"/>
            <a:ext cx="29260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840480" y="4023360"/>
            <a:ext cx="438912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412480" y="4023360"/>
            <a:ext cx="137160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875520" y="4023360"/>
            <a:ext cx="20116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4050792"/>
            <a:ext cx="2926080" cy="320040"/>
          </a:xfrm>
          <a:prstGeom prst="rect">
            <a:avLst/>
          </a:prstGeom>
          <a:noFill/>
        </p:spPr>
        <p:txBody>
          <a:bodyPr wrap="square">
            <a:spAutoFit/>
          </a:bodyPr>
          <a:lstStyle/>
          <a:p>
            <a:pPr algn="l">
              <a:defRPr sz="1100" b="1">
                <a:solidFill>
                  <a:srgbClr val="FFFFFF"/>
                </a:solidFill>
              </a:defRPr>
            </a:pPr>
            <a:r>
              <a:t>Circuit Breaker</a:t>
            </a:r>
          </a:p>
        </p:txBody>
      </p:sp>
      <p:sp>
        <p:nvSpPr>
          <p:cNvPr id="58" name="TextBox 57"/>
          <p:cNvSpPr txBox="1"/>
          <p:nvPr/>
        </p:nvSpPr>
        <p:spPr>
          <a:xfrm>
            <a:off x="3840480" y="4050792"/>
            <a:ext cx="4389120" cy="320040"/>
          </a:xfrm>
          <a:prstGeom prst="rect">
            <a:avLst/>
          </a:prstGeom>
          <a:noFill/>
        </p:spPr>
        <p:txBody>
          <a:bodyPr wrap="square">
            <a:spAutoFit/>
          </a:bodyPr>
          <a:lstStyle/>
          <a:p>
            <a:pPr algn="l">
              <a:defRPr sz="1000" b="0">
                <a:solidFill>
                  <a:srgbClr val="CCDDEE"/>
                </a:solidFill>
              </a:defRPr>
            </a:pPr>
            <a:r>
              <a:t>Evita fallos en cascada con fallbacks</a:t>
            </a:r>
          </a:p>
        </p:txBody>
      </p:sp>
      <p:sp>
        <p:nvSpPr>
          <p:cNvPr id="59" name="TextBox 58"/>
          <p:cNvSpPr txBox="1"/>
          <p:nvPr/>
        </p:nvSpPr>
        <p:spPr>
          <a:xfrm>
            <a:off x="8412480" y="4050792"/>
            <a:ext cx="1371600" cy="320040"/>
          </a:xfrm>
          <a:prstGeom prst="rect">
            <a:avLst/>
          </a:prstGeom>
          <a:noFill/>
        </p:spPr>
        <p:txBody>
          <a:bodyPr wrap="square">
            <a:spAutoFit/>
          </a:bodyPr>
          <a:lstStyle/>
          <a:p>
            <a:pPr algn="ctr">
              <a:defRPr sz="1000" b="0">
                <a:solidFill>
                  <a:srgbClr val="22C55E"/>
                </a:solidFill>
              </a:defRPr>
            </a:pPr>
            <a:r>
              <a:t>—</a:t>
            </a:r>
          </a:p>
        </p:txBody>
      </p:sp>
      <p:sp>
        <p:nvSpPr>
          <p:cNvPr id="60" name="TextBox 59"/>
          <p:cNvSpPr txBox="1"/>
          <p:nvPr/>
        </p:nvSpPr>
        <p:spPr>
          <a:xfrm>
            <a:off x="9875520" y="4050792"/>
            <a:ext cx="2011680" cy="320040"/>
          </a:xfrm>
          <a:prstGeom prst="rect">
            <a:avLst/>
          </a:prstGeom>
          <a:noFill/>
        </p:spPr>
        <p:txBody>
          <a:bodyPr wrap="square">
            <a:spAutoFit/>
          </a:bodyPr>
          <a:lstStyle/>
          <a:p>
            <a:pPr algn="l">
              <a:defRPr sz="1000" b="0">
                <a:solidFill>
                  <a:srgbClr val="CCDDEE"/>
                </a:solidFill>
              </a:defRPr>
            </a:pPr>
            <a:r>
              <a:t>api-gateway, bff</a:t>
            </a:r>
          </a:p>
        </p:txBody>
      </p:sp>
      <p:sp>
        <p:nvSpPr>
          <p:cNvPr id="61" name="Rectangle 60"/>
          <p:cNvSpPr/>
          <p:nvPr/>
        </p:nvSpPr>
        <p:spPr>
          <a:xfrm>
            <a:off x="731520" y="4498848"/>
            <a:ext cx="29260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840480" y="4498848"/>
            <a:ext cx="438912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412480" y="4498848"/>
            <a:ext cx="137160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875520" y="4498848"/>
            <a:ext cx="20116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4526280"/>
            <a:ext cx="2926080" cy="320040"/>
          </a:xfrm>
          <a:prstGeom prst="rect">
            <a:avLst/>
          </a:prstGeom>
          <a:noFill/>
        </p:spPr>
        <p:txBody>
          <a:bodyPr wrap="square">
            <a:spAutoFit/>
          </a:bodyPr>
          <a:lstStyle/>
          <a:p>
            <a:pPr algn="l">
              <a:defRPr sz="1100" b="1">
                <a:solidFill>
                  <a:srgbClr val="FFFFFF"/>
                </a:solidFill>
              </a:defRPr>
            </a:pPr>
            <a:r>
              <a:t>BFF</a:t>
            </a:r>
          </a:p>
        </p:txBody>
      </p:sp>
      <p:sp>
        <p:nvSpPr>
          <p:cNvPr id="66" name="TextBox 65"/>
          <p:cNvSpPr txBox="1"/>
          <p:nvPr/>
        </p:nvSpPr>
        <p:spPr>
          <a:xfrm>
            <a:off x="3840480" y="4526280"/>
            <a:ext cx="4389120" cy="320040"/>
          </a:xfrm>
          <a:prstGeom prst="rect">
            <a:avLst/>
          </a:prstGeom>
          <a:noFill/>
        </p:spPr>
        <p:txBody>
          <a:bodyPr wrap="square">
            <a:spAutoFit/>
          </a:bodyPr>
          <a:lstStyle/>
          <a:p>
            <a:pPr algn="l">
              <a:defRPr sz="1000" b="0">
                <a:solidFill>
                  <a:srgbClr val="CCDDEE"/>
                </a:solidFill>
              </a:defRPr>
            </a:pPr>
            <a:r>
              <a:t>Agrega datos de 3+ servicios para el frontend</a:t>
            </a:r>
          </a:p>
        </p:txBody>
      </p:sp>
      <p:sp>
        <p:nvSpPr>
          <p:cNvPr id="67" name="TextBox 66"/>
          <p:cNvSpPr txBox="1"/>
          <p:nvPr/>
        </p:nvSpPr>
        <p:spPr>
          <a:xfrm>
            <a:off x="8412480" y="4526280"/>
            <a:ext cx="1371600" cy="320040"/>
          </a:xfrm>
          <a:prstGeom prst="rect">
            <a:avLst/>
          </a:prstGeom>
          <a:noFill/>
        </p:spPr>
        <p:txBody>
          <a:bodyPr wrap="square">
            <a:spAutoFit/>
          </a:bodyPr>
          <a:lstStyle/>
          <a:p>
            <a:pPr algn="ctr">
              <a:defRPr sz="1000" b="0">
                <a:solidFill>
                  <a:srgbClr val="22C55E"/>
                </a:solidFill>
              </a:defRPr>
            </a:pPr>
            <a:r>
              <a:t>ISP</a:t>
            </a:r>
          </a:p>
        </p:txBody>
      </p:sp>
      <p:sp>
        <p:nvSpPr>
          <p:cNvPr id="68" name="TextBox 67"/>
          <p:cNvSpPr txBox="1"/>
          <p:nvPr/>
        </p:nvSpPr>
        <p:spPr>
          <a:xfrm>
            <a:off x="9875520" y="4526280"/>
            <a:ext cx="2011680" cy="320040"/>
          </a:xfrm>
          <a:prstGeom prst="rect">
            <a:avLst/>
          </a:prstGeom>
          <a:noFill/>
        </p:spPr>
        <p:txBody>
          <a:bodyPr wrap="square">
            <a:spAutoFit/>
          </a:bodyPr>
          <a:lstStyle/>
          <a:p>
            <a:pPr algn="l">
              <a:defRPr sz="1000" b="0">
                <a:solidFill>
                  <a:srgbClr val="CCDDEE"/>
                </a:solidFill>
              </a:defRPr>
            </a:pPr>
            <a:r>
              <a:t>bff</a:t>
            </a:r>
          </a:p>
        </p:txBody>
      </p:sp>
      <p:sp>
        <p:nvSpPr>
          <p:cNvPr id="69" name="Rectangle 68"/>
          <p:cNvSpPr/>
          <p:nvPr/>
        </p:nvSpPr>
        <p:spPr>
          <a:xfrm>
            <a:off x="731520" y="4974336"/>
            <a:ext cx="29260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840480" y="4974336"/>
            <a:ext cx="438912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412480" y="4974336"/>
            <a:ext cx="137160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875520" y="4974336"/>
            <a:ext cx="20116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5001768"/>
            <a:ext cx="2926080" cy="320040"/>
          </a:xfrm>
          <a:prstGeom prst="rect">
            <a:avLst/>
          </a:prstGeom>
          <a:noFill/>
        </p:spPr>
        <p:txBody>
          <a:bodyPr wrap="square">
            <a:spAutoFit/>
          </a:bodyPr>
          <a:lstStyle/>
          <a:p>
            <a:pPr algn="l">
              <a:defRPr sz="1100" b="1">
                <a:solidFill>
                  <a:srgbClr val="FFFFFF"/>
                </a:solidFill>
              </a:defRPr>
            </a:pPr>
            <a:r>
              <a:t>API Gateway</a:t>
            </a:r>
          </a:p>
        </p:txBody>
      </p:sp>
      <p:sp>
        <p:nvSpPr>
          <p:cNvPr id="74" name="TextBox 73"/>
          <p:cNvSpPr txBox="1"/>
          <p:nvPr/>
        </p:nvSpPr>
        <p:spPr>
          <a:xfrm>
            <a:off x="3840480" y="5001768"/>
            <a:ext cx="4389120" cy="320040"/>
          </a:xfrm>
          <a:prstGeom prst="rect">
            <a:avLst/>
          </a:prstGeom>
          <a:noFill/>
        </p:spPr>
        <p:txBody>
          <a:bodyPr wrap="square">
            <a:spAutoFit/>
          </a:bodyPr>
          <a:lstStyle/>
          <a:p>
            <a:pPr algn="l">
              <a:defRPr sz="1000" b="0">
                <a:solidFill>
                  <a:srgbClr val="CCDDEE"/>
                </a:solidFill>
              </a:defRPr>
            </a:pPr>
            <a:r>
              <a:t>Punto único de entrada con enrutamiento y CORS</a:t>
            </a:r>
          </a:p>
        </p:txBody>
      </p:sp>
      <p:sp>
        <p:nvSpPr>
          <p:cNvPr id="75" name="TextBox 74"/>
          <p:cNvSpPr txBox="1"/>
          <p:nvPr/>
        </p:nvSpPr>
        <p:spPr>
          <a:xfrm>
            <a:off x="8412480" y="5001768"/>
            <a:ext cx="1371600" cy="320040"/>
          </a:xfrm>
          <a:prstGeom prst="rect">
            <a:avLst/>
          </a:prstGeom>
          <a:noFill/>
        </p:spPr>
        <p:txBody>
          <a:bodyPr wrap="square">
            <a:spAutoFit/>
          </a:bodyPr>
          <a:lstStyle/>
          <a:p>
            <a:pPr algn="ctr">
              <a:defRPr sz="1000" b="0">
                <a:solidFill>
                  <a:srgbClr val="22C55E"/>
                </a:solidFill>
              </a:defRPr>
            </a:pPr>
            <a:r>
              <a:t>—</a:t>
            </a:r>
          </a:p>
        </p:txBody>
      </p:sp>
      <p:sp>
        <p:nvSpPr>
          <p:cNvPr id="76" name="TextBox 75"/>
          <p:cNvSpPr txBox="1"/>
          <p:nvPr/>
        </p:nvSpPr>
        <p:spPr>
          <a:xfrm>
            <a:off x="9875520" y="5001768"/>
            <a:ext cx="2011680" cy="320040"/>
          </a:xfrm>
          <a:prstGeom prst="rect">
            <a:avLst/>
          </a:prstGeom>
          <a:noFill/>
        </p:spPr>
        <p:txBody>
          <a:bodyPr wrap="square">
            <a:spAutoFit/>
          </a:bodyPr>
          <a:lstStyle/>
          <a:p>
            <a:pPr algn="l">
              <a:defRPr sz="1000" b="0">
                <a:solidFill>
                  <a:srgbClr val="CCDDEE"/>
                </a:solidFill>
              </a:defRPr>
            </a:pPr>
            <a:r>
              <a:t>api-gateway</a:t>
            </a:r>
          </a:p>
        </p:txBody>
      </p:sp>
      <p:sp>
        <p:nvSpPr>
          <p:cNvPr id="77" name="Rectangle 76"/>
          <p:cNvSpPr/>
          <p:nvPr/>
        </p:nvSpPr>
        <p:spPr>
          <a:xfrm>
            <a:off x="731520" y="5449824"/>
            <a:ext cx="29260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840480" y="5449824"/>
            <a:ext cx="438912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412480" y="5449824"/>
            <a:ext cx="137160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875520" y="5449824"/>
            <a:ext cx="2011680" cy="384048"/>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1520" y="5477256"/>
            <a:ext cx="2926080" cy="320040"/>
          </a:xfrm>
          <a:prstGeom prst="rect">
            <a:avLst/>
          </a:prstGeom>
          <a:noFill/>
        </p:spPr>
        <p:txBody>
          <a:bodyPr wrap="square">
            <a:spAutoFit/>
          </a:bodyPr>
          <a:lstStyle/>
          <a:p>
            <a:pPr algn="l">
              <a:defRPr sz="1100" b="1">
                <a:solidFill>
                  <a:srgbClr val="FFFFFF"/>
                </a:solidFill>
              </a:defRPr>
            </a:pPr>
            <a:r>
              <a:t>Custom Hook (React)</a:t>
            </a:r>
          </a:p>
        </p:txBody>
      </p:sp>
      <p:sp>
        <p:nvSpPr>
          <p:cNvPr id="82" name="TextBox 81"/>
          <p:cNvSpPr txBox="1"/>
          <p:nvPr/>
        </p:nvSpPr>
        <p:spPr>
          <a:xfrm>
            <a:off x="3840480" y="5477256"/>
            <a:ext cx="4389120" cy="320040"/>
          </a:xfrm>
          <a:prstGeom prst="rect">
            <a:avLst/>
          </a:prstGeom>
          <a:noFill/>
        </p:spPr>
        <p:txBody>
          <a:bodyPr wrap="square">
            <a:spAutoFit/>
          </a:bodyPr>
          <a:lstStyle/>
          <a:p>
            <a:pPr algn="l">
              <a:defRPr sz="1000" b="0">
                <a:solidFill>
                  <a:srgbClr val="CCDDEE"/>
                </a:solidFill>
              </a:defRPr>
            </a:pPr>
            <a:r>
              <a:t>Abstracción de data fetching reutilizable</a:t>
            </a:r>
          </a:p>
        </p:txBody>
      </p:sp>
      <p:sp>
        <p:nvSpPr>
          <p:cNvPr id="83" name="TextBox 82"/>
          <p:cNvSpPr txBox="1"/>
          <p:nvPr/>
        </p:nvSpPr>
        <p:spPr>
          <a:xfrm>
            <a:off x="8412480" y="5477256"/>
            <a:ext cx="1371600" cy="320040"/>
          </a:xfrm>
          <a:prstGeom prst="rect">
            <a:avLst/>
          </a:prstGeom>
          <a:noFill/>
        </p:spPr>
        <p:txBody>
          <a:bodyPr wrap="square">
            <a:spAutoFit/>
          </a:bodyPr>
          <a:lstStyle/>
          <a:p>
            <a:pPr algn="ctr">
              <a:defRPr sz="1000" b="0">
                <a:solidFill>
                  <a:srgbClr val="22C55E"/>
                </a:solidFill>
              </a:defRPr>
            </a:pPr>
            <a:r>
              <a:t>—</a:t>
            </a:r>
          </a:p>
        </p:txBody>
      </p:sp>
      <p:sp>
        <p:nvSpPr>
          <p:cNvPr id="84" name="TextBox 83"/>
          <p:cNvSpPr txBox="1"/>
          <p:nvPr/>
        </p:nvSpPr>
        <p:spPr>
          <a:xfrm>
            <a:off x="9875520" y="5477256"/>
            <a:ext cx="2011680" cy="320040"/>
          </a:xfrm>
          <a:prstGeom prst="rect">
            <a:avLst/>
          </a:prstGeom>
          <a:noFill/>
        </p:spPr>
        <p:txBody>
          <a:bodyPr wrap="square">
            <a:spAutoFit/>
          </a:bodyPr>
          <a:lstStyle/>
          <a:p>
            <a:pPr algn="l">
              <a:defRPr sz="1000" b="0">
                <a:solidFill>
                  <a:srgbClr val="CCDDEE"/>
                </a:solidFill>
              </a:defRPr>
            </a:pPr>
            <a:r>
              <a:t>frontend/hooks</a:t>
            </a:r>
          </a:p>
        </p:txBody>
      </p:sp>
      <p:sp>
        <p:nvSpPr>
          <p:cNvPr id="85" name="Rectangle 84"/>
          <p:cNvSpPr/>
          <p:nvPr/>
        </p:nvSpPr>
        <p:spPr>
          <a:xfrm>
            <a:off x="731520" y="5925312"/>
            <a:ext cx="29260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3840480" y="5925312"/>
            <a:ext cx="438912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412480" y="5925312"/>
            <a:ext cx="137160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875520" y="5925312"/>
            <a:ext cx="2011680" cy="384048"/>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31520" y="5952744"/>
            <a:ext cx="2926080" cy="320040"/>
          </a:xfrm>
          <a:prstGeom prst="rect">
            <a:avLst/>
          </a:prstGeom>
          <a:noFill/>
        </p:spPr>
        <p:txBody>
          <a:bodyPr wrap="square">
            <a:spAutoFit/>
          </a:bodyPr>
          <a:lstStyle/>
          <a:p>
            <a:pPr algn="l">
              <a:defRPr sz="1100" b="1">
                <a:solidFill>
                  <a:srgbClr val="FFFFFF"/>
                </a:solidFill>
              </a:defRPr>
            </a:pPr>
            <a:r>
              <a:t>Cache-Aside (@Cacheable)</a:t>
            </a:r>
          </a:p>
        </p:txBody>
      </p:sp>
      <p:sp>
        <p:nvSpPr>
          <p:cNvPr id="90" name="TextBox 89"/>
          <p:cNvSpPr txBox="1"/>
          <p:nvPr/>
        </p:nvSpPr>
        <p:spPr>
          <a:xfrm>
            <a:off x="3840480" y="5952744"/>
            <a:ext cx="4389120" cy="320040"/>
          </a:xfrm>
          <a:prstGeom prst="rect">
            <a:avLst/>
          </a:prstGeom>
          <a:noFill/>
        </p:spPr>
        <p:txBody>
          <a:bodyPr wrap="square">
            <a:spAutoFit/>
          </a:bodyPr>
          <a:lstStyle/>
          <a:p>
            <a:pPr algn="l">
              <a:defRPr sz="1000" b="0">
                <a:solidFill>
                  <a:srgbClr val="CCDDEE"/>
                </a:solidFill>
              </a:defRPr>
            </a:pPr>
            <a:r>
              <a:t>Reduce latencia de ~10s a &lt;70ms</a:t>
            </a:r>
          </a:p>
        </p:txBody>
      </p:sp>
      <p:sp>
        <p:nvSpPr>
          <p:cNvPr id="91" name="TextBox 90"/>
          <p:cNvSpPr txBox="1"/>
          <p:nvPr/>
        </p:nvSpPr>
        <p:spPr>
          <a:xfrm>
            <a:off x="8412480" y="5952744"/>
            <a:ext cx="1371600" cy="320040"/>
          </a:xfrm>
          <a:prstGeom prst="rect">
            <a:avLst/>
          </a:prstGeom>
          <a:noFill/>
        </p:spPr>
        <p:txBody>
          <a:bodyPr wrap="square">
            <a:spAutoFit/>
          </a:bodyPr>
          <a:lstStyle/>
          <a:p>
            <a:pPr algn="ctr">
              <a:defRPr sz="1000" b="0">
                <a:solidFill>
                  <a:srgbClr val="22C55E"/>
                </a:solidFill>
              </a:defRPr>
            </a:pPr>
            <a:r>
              <a:t>—</a:t>
            </a:r>
          </a:p>
        </p:txBody>
      </p:sp>
      <p:sp>
        <p:nvSpPr>
          <p:cNvPr id="92" name="TextBox 91"/>
          <p:cNvSpPr txBox="1"/>
          <p:nvPr/>
        </p:nvSpPr>
        <p:spPr>
          <a:xfrm>
            <a:off x="9875520" y="5952744"/>
            <a:ext cx="2011680" cy="320040"/>
          </a:xfrm>
          <a:prstGeom prst="rect">
            <a:avLst/>
          </a:prstGeom>
          <a:noFill/>
        </p:spPr>
        <p:txBody>
          <a:bodyPr wrap="square">
            <a:spAutoFit/>
          </a:bodyPr>
          <a:lstStyle/>
          <a:p>
            <a:pPr algn="l">
              <a:defRPr sz="1000" b="0">
                <a:solidFill>
                  <a:srgbClr val="CCDDEE"/>
                </a:solidFill>
              </a:defRPr>
            </a:pPr>
            <a:r>
              <a:t>Todos los servicios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Arquetipos Maven</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CCDDEE"/>
                </a:solidFill>
              </a:defRPr>
            </a:pPr>
            <a:r>
              <a:t>Estandarización y generación rápida de nuevos módulos</a:t>
            </a:r>
          </a:p>
        </p:txBody>
      </p:sp>
      <p:sp>
        <p:nvSpPr>
          <p:cNvPr id="5" name="TextBox 4"/>
          <p:cNvSpPr txBox="1"/>
          <p:nvPr/>
        </p:nvSpPr>
        <p:spPr>
          <a:xfrm>
            <a:off x="731520" y="1188720"/>
            <a:ext cx="10058400" cy="457200"/>
          </a:xfrm>
          <a:prstGeom prst="rect">
            <a:avLst/>
          </a:prstGeom>
          <a:noFill/>
        </p:spPr>
        <p:txBody>
          <a:bodyPr wrap="square">
            <a:spAutoFit/>
          </a:bodyPr>
          <a:lstStyle/>
          <a:p>
            <a:pPr algn="l">
              <a:defRPr sz="2200" b="1">
                <a:solidFill>
                  <a:srgbClr val="2E86AB"/>
                </a:solidFill>
              </a:defRPr>
            </a:pPr>
            <a:r>
              <a:t>¿Para qué sirven los arquetipos?</a:t>
            </a:r>
          </a:p>
        </p:txBody>
      </p:sp>
      <p:sp>
        <p:nvSpPr>
          <p:cNvPr id="6" name="TextBox 5"/>
          <p:cNvSpPr txBox="1"/>
          <p:nvPr/>
        </p:nvSpPr>
        <p:spPr>
          <a:xfrm>
            <a:off x="731520" y="1645920"/>
            <a:ext cx="10058400" cy="1371600"/>
          </a:xfrm>
          <a:prstGeom prst="rect">
            <a:avLst/>
          </a:prstGeom>
          <a:noFill/>
        </p:spPr>
        <p:txBody>
          <a:bodyPr wrap="square">
            <a:spAutoFit/>
          </a:bodyPr>
          <a:lstStyle/>
          <a:p>
            <a:pPr algn="l">
              <a:defRPr sz="1400" b="0">
                <a:solidFill>
                  <a:srgbClr val="CCDDEE"/>
                </a:solidFill>
              </a:defRPr>
            </a:pPr>
            <a:r>
              <a:t>Los arquetipos Maven son plantillas de proyecto que permiten generar nuevos módulos con la misma estructura, configuraciones y dependencias predefinidas. Garantizan que todos los microservicios sigan el mismo estándar.</a:t>
            </a:r>
          </a:p>
        </p:txBody>
      </p:sp>
      <p:sp>
        <p:nvSpPr>
          <p:cNvPr id="7" name="Rectangle 6"/>
          <p:cNvSpPr/>
          <p:nvPr/>
        </p:nvSpPr>
        <p:spPr>
          <a:xfrm>
            <a:off x="731520" y="2560320"/>
            <a:ext cx="50292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06040"/>
            <a:ext cx="5029200" cy="365760"/>
          </a:xfrm>
          <a:prstGeom prst="rect">
            <a:avLst/>
          </a:prstGeom>
          <a:noFill/>
        </p:spPr>
        <p:txBody>
          <a:bodyPr wrap="square">
            <a:spAutoFit/>
          </a:bodyPr>
          <a:lstStyle/>
          <a:p>
            <a:pPr algn="ctr">
              <a:defRPr sz="1600" b="1">
                <a:solidFill>
                  <a:srgbClr val="FFFFFF"/>
                </a:solidFill>
              </a:defRPr>
            </a:pPr>
            <a:r>
              <a:t>ms-service-archetype</a:t>
            </a:r>
          </a:p>
        </p:txBody>
      </p:sp>
      <p:sp>
        <p:nvSpPr>
          <p:cNvPr id="9" name="TextBox 8"/>
          <p:cNvSpPr txBox="1"/>
          <p:nvPr/>
        </p:nvSpPr>
        <p:spPr>
          <a:xfrm>
            <a:off x="731520" y="3108960"/>
            <a:ext cx="5029200" cy="2286000"/>
          </a:xfrm>
          <a:prstGeom prst="rect">
            <a:avLst/>
          </a:prstGeom>
          <a:noFill/>
        </p:spPr>
        <p:txBody>
          <a:bodyPr wrap="square">
            <a:spAutoFit/>
          </a:bodyPr>
          <a:lstStyle/>
          <a:p>
            <a:pPr algn="l">
              <a:defRPr sz="1200" b="0">
                <a:solidFill>
                  <a:srgbClr val="CCDDEE"/>
                </a:solidFill>
              </a:defRPr>
            </a:pPr>
            <a:r>
              <a:t>Propósito: Generar microservicios Spring Boot con JPA + PostgreSQL</a:t>
            </a:r>
            <a:br/>
            <a:br/>
            <a:r>
              <a:t>Estructura generada:</a:t>
            </a:r>
            <a:br/>
            <a:r>
              <a:t>• controller/SampleController.java</a:t>
            </a:r>
            <a:br/>
            <a:r>
              <a:t>• entity/SampleEntity.java</a:t>
            </a:r>
            <a:br/>
            <a:r>
              <a:t>• repository/SampleRepository.java</a:t>
            </a:r>
            <a:br/>
            <a:r>
              <a:t>• service/SampleService.java</a:t>
            </a:r>
            <a:br/>
            <a:r>
              <a:t>• exception/GlobalExceptionHandler.java</a:t>
            </a:r>
            <a:br/>
            <a:br/>
            <a:r>
              <a:t>Preconfigurado con: Spring Web, Data JPA, Validation,</a:t>
            </a:r>
            <a:br/>
            <a:r>
              <a:t>PostgreSQL Driver, Lombok, Test</a:t>
            </a:r>
          </a:p>
        </p:txBody>
      </p:sp>
      <p:sp>
        <p:nvSpPr>
          <p:cNvPr id="10" name="Rectangle 9"/>
          <p:cNvSpPr/>
          <p:nvPr/>
        </p:nvSpPr>
        <p:spPr>
          <a:xfrm>
            <a:off x="6400800" y="2560320"/>
            <a:ext cx="50292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606040"/>
            <a:ext cx="5029200" cy="365760"/>
          </a:xfrm>
          <a:prstGeom prst="rect">
            <a:avLst/>
          </a:prstGeom>
          <a:noFill/>
        </p:spPr>
        <p:txBody>
          <a:bodyPr wrap="square">
            <a:spAutoFit/>
          </a:bodyPr>
          <a:lstStyle/>
          <a:p>
            <a:pPr algn="ctr">
              <a:defRPr sz="1600" b="1">
                <a:solidFill>
                  <a:srgbClr val="FFFFFF"/>
                </a:solidFill>
              </a:defRPr>
            </a:pPr>
            <a:r>
              <a:t>bff-archetype</a:t>
            </a:r>
          </a:p>
        </p:txBody>
      </p:sp>
      <p:sp>
        <p:nvSpPr>
          <p:cNvPr id="12" name="TextBox 11"/>
          <p:cNvSpPr txBox="1"/>
          <p:nvPr/>
        </p:nvSpPr>
        <p:spPr>
          <a:xfrm>
            <a:off x="6400800" y="3108960"/>
            <a:ext cx="5029200" cy="2286000"/>
          </a:xfrm>
          <a:prstGeom prst="rect">
            <a:avLst/>
          </a:prstGeom>
          <a:noFill/>
        </p:spPr>
        <p:txBody>
          <a:bodyPr wrap="square">
            <a:spAutoFit/>
          </a:bodyPr>
          <a:lstStyle/>
          <a:p>
            <a:pPr algn="l">
              <a:defRPr sz="1200" b="0">
                <a:solidFill>
                  <a:srgbClr val="CCDDEE"/>
                </a:solidFill>
              </a:defRPr>
            </a:pPr>
            <a:r>
              <a:t>Propósito: Generar módulos BFF con Auth + Security + JWT</a:t>
            </a:r>
            <a:br/>
            <a:br/>
            <a:r>
              <a:t>Estructura generada:</a:t>
            </a:r>
            <a:br/>
            <a:r>
              <a:t>• config/DataInitializer.java</a:t>
            </a:r>
            <a:br/>
            <a:r>
              <a:t>• security/JwtAuthFilter.java, JwtUtil.java</a:t>
            </a:r>
            <a:br/>
            <a:r>
              <a:t>• repository/UsuarioRepository.java</a:t>
            </a:r>
            <a:br/>
            <a:r>
              <a:t>• dto/LoginRequest.java, LoginResponse.java</a:t>
            </a:r>
            <a:br/>
            <a:r>
              <a:t>• controller/SampleController.java</a:t>
            </a:r>
            <a:br/>
            <a:br/>
            <a:r>
              <a:t>Preconfigurado con: Spring Security, JWT (jjwt 0.12.6),</a:t>
            </a:r>
            <a:br/>
            <a:r>
              <a:t>Resilience4j, H2, Lombok, Test</a:t>
            </a:r>
          </a:p>
        </p:txBody>
      </p:sp>
      <p:sp>
        <p:nvSpPr>
          <p:cNvPr id="13" name="Rectangle 12"/>
          <p:cNvSpPr/>
          <p:nvPr/>
        </p:nvSpPr>
        <p:spPr>
          <a:xfrm>
            <a:off x="731520" y="5669280"/>
            <a:ext cx="10698480" cy="64008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715000"/>
            <a:ext cx="10698480" cy="548640"/>
          </a:xfrm>
          <a:prstGeom prst="rect">
            <a:avLst/>
          </a:prstGeom>
          <a:noFill/>
        </p:spPr>
        <p:txBody>
          <a:bodyPr wrap="square">
            <a:spAutoFit/>
          </a:bodyPr>
          <a:lstStyle/>
          <a:p>
            <a:pPr algn="ctr">
              <a:defRPr sz="1300" b="0">
                <a:solidFill>
                  <a:srgbClr val="CCDDEE"/>
                </a:solidFill>
              </a:defRPr>
            </a:pPr>
            <a:r>
              <a:t>Beneficio: Tiempo de bootstrap reducido, estructura estandarizada entre todos los módulos, nuevos desarrolladores se integran más rápido al equipo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Modelos de Datos</a:t>
            </a:r>
          </a:p>
        </p:txBody>
      </p:sp>
      <p:sp>
        <p:nvSpPr>
          <p:cNvPr id="4" name="Rectangle 3"/>
          <p:cNvSpPr/>
          <p:nvPr/>
        </p:nvSpPr>
        <p:spPr>
          <a:xfrm>
            <a:off x="731520" y="1188720"/>
            <a:ext cx="347472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16152"/>
            <a:ext cx="3474720" cy="320040"/>
          </a:xfrm>
          <a:prstGeom prst="rect">
            <a:avLst/>
          </a:prstGeom>
          <a:noFill/>
        </p:spPr>
        <p:txBody>
          <a:bodyPr wrap="square">
            <a:spAutoFit/>
          </a:bodyPr>
          <a:lstStyle/>
          <a:p>
            <a:pPr algn="ctr">
              <a:defRPr sz="1300" b="1">
                <a:solidFill>
                  <a:srgbClr val="FFFFFF"/>
                </a:solidFill>
              </a:defRPr>
            </a:pPr>
            <a:r>
              <a:t>ms-ventas (schema: ventas)</a:t>
            </a:r>
          </a:p>
        </p:txBody>
      </p:sp>
      <p:sp>
        <p:nvSpPr>
          <p:cNvPr id="6" name="TextBox 5"/>
          <p:cNvSpPr txBox="1"/>
          <p:nvPr/>
        </p:nvSpPr>
        <p:spPr>
          <a:xfrm>
            <a:off x="731520" y="1645920"/>
            <a:ext cx="3474720" cy="2743200"/>
          </a:xfrm>
          <a:prstGeom prst="rect">
            <a:avLst/>
          </a:prstGeom>
          <a:noFill/>
        </p:spPr>
        <p:txBody>
          <a:bodyPr wrap="square">
            <a:spAutoFit/>
          </a:bodyPr>
          <a:lstStyle/>
          <a:p>
            <a:pPr>
              <a:spcAft>
                <a:spcPts val="500"/>
              </a:spcAft>
              <a:defRPr sz="1100">
                <a:solidFill>
                  <a:srgbClr val="CCDDEE"/>
                </a:solidFill>
              </a:defRPr>
            </a:pPr>
            <a:r>
              <a:t>• Venta (id, fecha, monto, sucursal, usuario)</a:t>
            </a:r>
          </a:p>
          <a:p>
            <a:pPr>
              <a:spcAft>
                <a:spcPts val="500"/>
              </a:spcAft>
              <a:defRPr sz="1100">
                <a:solidFill>
                  <a:srgbClr val="CCDDEE"/>
                </a:solidFill>
              </a:defRPr>
            </a:pPr>
            <a:r>
              <a:t>• DetalleVenta (id, venta, producto, cantidad, precio)</a:t>
            </a:r>
          </a:p>
          <a:p>
            <a:pPr>
              <a:spcAft>
                <a:spcPts val="500"/>
              </a:spcAft>
              <a:defRPr sz="1100">
                <a:solidFill>
                  <a:srgbClr val="CCDDEE"/>
                </a:solidFill>
              </a:defRPr>
            </a:pPr>
            <a:r>
              <a:t>• Producto (id, nombre, desc, precio, stock, categoria)</a:t>
            </a:r>
          </a:p>
          <a:p>
            <a:pPr>
              <a:spcAft>
                <a:spcPts val="500"/>
              </a:spcAft>
              <a:defRPr sz="1100">
                <a:solidFill>
                  <a:srgbClr val="CCDDEE"/>
                </a:solidFill>
              </a:defRPr>
            </a:pPr>
            <a:r>
              <a:t>• Sucursal (id, nombre, direccion, ciudad)</a:t>
            </a:r>
          </a:p>
        </p:txBody>
      </p:sp>
      <p:sp>
        <p:nvSpPr>
          <p:cNvPr id="7" name="Rectangle 6"/>
          <p:cNvSpPr/>
          <p:nvPr/>
        </p:nvSpPr>
        <p:spPr>
          <a:xfrm>
            <a:off x="4480560" y="1188720"/>
            <a:ext cx="347472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216152"/>
            <a:ext cx="3474720" cy="320040"/>
          </a:xfrm>
          <a:prstGeom prst="rect">
            <a:avLst/>
          </a:prstGeom>
          <a:noFill/>
        </p:spPr>
        <p:txBody>
          <a:bodyPr wrap="square">
            <a:spAutoFit/>
          </a:bodyPr>
          <a:lstStyle/>
          <a:p>
            <a:pPr algn="ctr">
              <a:defRPr sz="1300" b="1">
                <a:solidFill>
                  <a:srgbClr val="FFFFFF"/>
                </a:solidFill>
              </a:defRPr>
            </a:pPr>
            <a:r>
              <a:t>ms-datos-org (schema: datos_org)</a:t>
            </a:r>
          </a:p>
        </p:txBody>
      </p:sp>
      <p:sp>
        <p:nvSpPr>
          <p:cNvPr id="9" name="TextBox 8"/>
          <p:cNvSpPr txBox="1"/>
          <p:nvPr/>
        </p:nvSpPr>
        <p:spPr>
          <a:xfrm>
            <a:off x="4480560" y="1645920"/>
            <a:ext cx="3474720" cy="1371600"/>
          </a:xfrm>
          <a:prstGeom prst="rect">
            <a:avLst/>
          </a:prstGeom>
          <a:noFill/>
        </p:spPr>
        <p:txBody>
          <a:bodyPr wrap="square">
            <a:spAutoFit/>
          </a:bodyPr>
          <a:lstStyle/>
          <a:p>
            <a:pPr>
              <a:spcAft>
                <a:spcPts val="500"/>
              </a:spcAft>
              <a:defRPr sz="1100">
                <a:solidFill>
                  <a:srgbClr val="CCDDEE"/>
                </a:solidFill>
              </a:defRPr>
            </a:pPr>
            <a:r>
              <a:t>• Empleado (id, nombre, apellido, email, cargo, dpto)</a:t>
            </a:r>
          </a:p>
          <a:p>
            <a:pPr>
              <a:spcAft>
                <a:spcPts val="500"/>
              </a:spcAft>
              <a:defRPr sz="1100">
                <a:solidFill>
                  <a:srgbClr val="CCDDEE"/>
                </a:solidFill>
              </a:defRPr>
            </a:pPr>
            <a:r>
              <a:t>• Departamento (id, nombre, desc, activo)</a:t>
            </a:r>
          </a:p>
        </p:txBody>
      </p:sp>
      <p:sp>
        <p:nvSpPr>
          <p:cNvPr id="10" name="Rectangle 9"/>
          <p:cNvSpPr/>
          <p:nvPr/>
        </p:nvSpPr>
        <p:spPr>
          <a:xfrm>
            <a:off x="8229600" y="1188720"/>
            <a:ext cx="32004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216152"/>
            <a:ext cx="3200400" cy="320040"/>
          </a:xfrm>
          <a:prstGeom prst="rect">
            <a:avLst/>
          </a:prstGeom>
          <a:noFill/>
        </p:spPr>
        <p:txBody>
          <a:bodyPr wrap="square">
            <a:spAutoFit/>
          </a:bodyPr>
          <a:lstStyle/>
          <a:p>
            <a:pPr algn="ctr">
              <a:defRPr sz="1300" b="1">
                <a:solidFill>
                  <a:srgbClr val="FFFFFF"/>
                </a:solidFill>
              </a:defRPr>
            </a:pPr>
            <a:r>
              <a:t>ms-indicadores (schema: indicadores)</a:t>
            </a:r>
          </a:p>
        </p:txBody>
      </p:sp>
      <p:sp>
        <p:nvSpPr>
          <p:cNvPr id="12" name="TextBox 11"/>
          <p:cNvSpPr txBox="1"/>
          <p:nvPr/>
        </p:nvSpPr>
        <p:spPr>
          <a:xfrm>
            <a:off x="8229600" y="1645920"/>
            <a:ext cx="3200400" cy="2286000"/>
          </a:xfrm>
          <a:prstGeom prst="rect">
            <a:avLst/>
          </a:prstGeom>
          <a:noFill/>
        </p:spPr>
        <p:txBody>
          <a:bodyPr wrap="square">
            <a:spAutoFit/>
          </a:bodyPr>
          <a:lstStyle/>
          <a:p>
            <a:pPr>
              <a:spcAft>
                <a:spcPts val="500"/>
              </a:spcAft>
              <a:defRPr sz="1100">
                <a:solidFill>
                  <a:srgbClr val="CCDDEE"/>
                </a:solidFill>
              </a:defRPr>
            </a:pPr>
            <a:r>
              <a:t>• Indicador (id, nombre, desc, tipo, categoria)</a:t>
            </a:r>
          </a:p>
          <a:p>
            <a:pPr>
              <a:spcAft>
                <a:spcPts val="500"/>
              </a:spcAft>
              <a:defRPr sz="1100">
                <a:solidFill>
                  <a:srgbClr val="CCDDEE"/>
                </a:solidFill>
              </a:defRPr>
            </a:pPr>
            <a:r>
              <a:t>• ValorIndicador (id, indicador, valor, fecha, periodo)</a:t>
            </a:r>
          </a:p>
          <a:p>
            <a:pPr>
              <a:spcAft>
                <a:spcPts val="500"/>
              </a:spcAft>
              <a:defRPr sz="1100">
                <a:solidFill>
                  <a:srgbClr val="CCDDEE"/>
                </a:solidFill>
              </a:defRPr>
            </a:pPr>
            <a:r>
              <a:t>• Categoria (id, nombre, desc)</a:t>
            </a:r>
          </a:p>
        </p:txBody>
      </p:sp>
      <p:sp>
        <p:nvSpPr>
          <p:cNvPr id="13" name="Rectangle 12"/>
          <p:cNvSpPr/>
          <p:nvPr/>
        </p:nvSpPr>
        <p:spPr>
          <a:xfrm>
            <a:off x="4480560" y="3200400"/>
            <a:ext cx="347472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227832"/>
            <a:ext cx="3474720" cy="320040"/>
          </a:xfrm>
          <a:prstGeom prst="rect">
            <a:avLst/>
          </a:prstGeom>
          <a:noFill/>
        </p:spPr>
        <p:txBody>
          <a:bodyPr wrap="square">
            <a:spAutoFit/>
          </a:bodyPr>
          <a:lstStyle/>
          <a:p>
            <a:pPr algn="ctr">
              <a:defRPr sz="1300" b="1">
                <a:solidFill>
                  <a:srgbClr val="FFFFFF"/>
                </a:solidFill>
              </a:defRPr>
            </a:pPr>
            <a:r>
              <a:t>bff (H2 en memoria)</a:t>
            </a:r>
          </a:p>
        </p:txBody>
      </p:sp>
      <p:sp>
        <p:nvSpPr>
          <p:cNvPr id="15" name="TextBox 14"/>
          <p:cNvSpPr txBox="1"/>
          <p:nvPr/>
        </p:nvSpPr>
        <p:spPr>
          <a:xfrm>
            <a:off x="4480560" y="3657600"/>
            <a:ext cx="3474720" cy="1371600"/>
          </a:xfrm>
          <a:prstGeom prst="rect">
            <a:avLst/>
          </a:prstGeom>
          <a:noFill/>
        </p:spPr>
        <p:txBody>
          <a:bodyPr wrap="square">
            <a:spAutoFit/>
          </a:bodyPr>
          <a:lstStyle/>
          <a:p>
            <a:pPr>
              <a:spcAft>
                <a:spcPts val="500"/>
              </a:spcAft>
              <a:defRPr sz="1100">
                <a:solidFill>
                  <a:srgbClr val="CCDDEE"/>
                </a:solidFill>
              </a:defRPr>
            </a:pPr>
            <a:r>
              <a:t>• Usuario (id, username, password hash, email, rol)</a:t>
            </a:r>
          </a:p>
          <a:p>
            <a:pPr>
              <a:spcAft>
                <a:spcPts val="500"/>
              </a:spcAft>
              <a:defRPr sz="1100">
                <a:solidFill>
                  <a:srgbClr val="CCDDEE"/>
                </a:solidFill>
              </a:defRPr>
            </a:pPr>
            <a:r>
              <a:t>• Ticket (id, titulo, desc, estado, prioridad, usuario)</a:t>
            </a:r>
          </a:p>
        </p:txBody>
      </p:sp>
      <p:sp>
        <p:nvSpPr>
          <p:cNvPr id="16" name="Rectangle 15"/>
          <p:cNvSpPr/>
          <p:nvPr/>
        </p:nvSpPr>
        <p:spPr>
          <a:xfrm>
            <a:off x="731520" y="4389120"/>
            <a:ext cx="10698480" cy="36576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16552"/>
            <a:ext cx="10698480" cy="320040"/>
          </a:xfrm>
          <a:prstGeom prst="rect">
            <a:avLst/>
          </a:prstGeom>
          <a:noFill/>
        </p:spPr>
        <p:txBody>
          <a:bodyPr wrap="square">
            <a:spAutoFit/>
          </a:bodyPr>
          <a:lstStyle/>
          <a:p>
            <a:pPr algn="ctr">
              <a:defRPr sz="1300" b="1">
                <a:solidFill>
                  <a:srgbClr val="FFFFFF"/>
                </a:solidFill>
              </a:defRPr>
            </a:pPr>
            <a:r>
              <a:t>Estrategia de Base de Datos: PostgreSQL único con 3 schemas separados</a:t>
            </a:r>
          </a:p>
        </p:txBody>
      </p:sp>
      <p:sp>
        <p:nvSpPr>
          <p:cNvPr id="18" name="TextBox 17"/>
          <p:cNvSpPr txBox="1"/>
          <p:nvPr/>
        </p:nvSpPr>
        <p:spPr>
          <a:xfrm>
            <a:off x="731520" y="4846320"/>
            <a:ext cx="10698480" cy="1371600"/>
          </a:xfrm>
          <a:prstGeom prst="rect">
            <a:avLst/>
          </a:prstGeom>
          <a:noFill/>
        </p:spPr>
        <p:txBody>
          <a:bodyPr wrap="square">
            <a:spAutoFit/>
          </a:bodyPr>
          <a:lstStyle/>
          <a:p>
            <a:pPr algn="l">
              <a:defRPr sz="1200" b="0">
                <a:solidFill>
                  <a:srgbClr val="CCDDEE"/>
                </a:solidFill>
              </a:defRPr>
            </a:pPr>
            <a:r>
              <a:t>Se eligió una sola instancia de PostgreSQL con schemas separados en lugar de bases de datos independientes. Esto mantiene el aislamiento lógico entre dominios (ventas, organización, indicadores) pero simplifica la operación, reduce costos de conexión y facilita backups. Hibernate gestiona el DDL automáticamente con spring.jpa.hibernate.ddl-auto=update y los schemas se crean vía schema.sql antes de que Hibernate intente crear tablas.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Optimizaciones de Rendimiento</a:t>
            </a:r>
          </a:p>
        </p:txBody>
      </p:sp>
      <p:sp>
        <p:nvSpPr>
          <p:cNvPr id="4" name="TextBox 3"/>
          <p:cNvSpPr txBox="1"/>
          <p:nvPr/>
        </p:nvSpPr>
        <p:spPr>
          <a:xfrm>
            <a:off x="731520" y="914400"/>
            <a:ext cx="10058400" cy="457200"/>
          </a:xfrm>
          <a:prstGeom prst="rect">
            <a:avLst/>
          </a:prstGeom>
          <a:noFill/>
        </p:spPr>
        <p:txBody>
          <a:bodyPr wrap="square">
            <a:spAutoFit/>
          </a:bodyPr>
          <a:lstStyle/>
          <a:p>
            <a:pPr algn="l">
              <a:defRPr sz="1600" b="0">
                <a:solidFill>
                  <a:srgbClr val="CCDDEE"/>
                </a:solidFill>
              </a:defRPr>
            </a:pPr>
            <a:r>
              <a:t>Resultados medibles después de las mejoras</a:t>
            </a:r>
          </a:p>
        </p:txBody>
      </p:sp>
      <p:sp>
        <p:nvSpPr>
          <p:cNvPr id="5" name="Rectangle 4"/>
          <p:cNvSpPr/>
          <p:nvPr/>
        </p:nvSpPr>
        <p:spPr>
          <a:xfrm>
            <a:off x="731520" y="1188720"/>
            <a:ext cx="36576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16152"/>
            <a:ext cx="3657600" cy="320040"/>
          </a:xfrm>
          <a:prstGeom prst="rect">
            <a:avLst/>
          </a:prstGeom>
          <a:noFill/>
        </p:spPr>
        <p:txBody>
          <a:bodyPr wrap="square">
            <a:spAutoFit/>
          </a:bodyPr>
          <a:lstStyle/>
          <a:p>
            <a:pPr algn="ctr">
              <a:defRPr sz="1300" b="1">
                <a:solidFill>
                  <a:srgbClr val="FFFFFF"/>
                </a:solidFill>
              </a:defRPr>
            </a:pPr>
            <a:r>
              <a:t>Optimización</a:t>
            </a:r>
          </a:p>
        </p:txBody>
      </p:sp>
      <p:sp>
        <p:nvSpPr>
          <p:cNvPr id="7" name="Rectangle 6"/>
          <p:cNvSpPr/>
          <p:nvPr/>
        </p:nvSpPr>
        <p:spPr>
          <a:xfrm>
            <a:off x="4754880" y="1188720"/>
            <a:ext cx="32004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216152"/>
            <a:ext cx="3200400" cy="320040"/>
          </a:xfrm>
          <a:prstGeom prst="rect">
            <a:avLst/>
          </a:prstGeom>
          <a:noFill/>
        </p:spPr>
        <p:txBody>
          <a:bodyPr wrap="square">
            <a:spAutoFit/>
          </a:bodyPr>
          <a:lstStyle/>
          <a:p>
            <a:pPr algn="ctr">
              <a:defRPr sz="1300" b="1">
                <a:solidFill>
                  <a:srgbClr val="FFFFFF"/>
                </a:solidFill>
              </a:defRPr>
            </a:pPr>
            <a:r>
              <a:t>Antes</a:t>
            </a:r>
          </a:p>
        </p:txBody>
      </p:sp>
      <p:sp>
        <p:nvSpPr>
          <p:cNvPr id="9" name="Rectangle 8"/>
          <p:cNvSpPr/>
          <p:nvPr/>
        </p:nvSpPr>
        <p:spPr>
          <a:xfrm>
            <a:off x="8229600" y="1188720"/>
            <a:ext cx="32004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216152"/>
            <a:ext cx="3200400" cy="320040"/>
          </a:xfrm>
          <a:prstGeom prst="rect">
            <a:avLst/>
          </a:prstGeom>
          <a:noFill/>
        </p:spPr>
        <p:txBody>
          <a:bodyPr wrap="square">
            <a:spAutoFit/>
          </a:bodyPr>
          <a:lstStyle/>
          <a:p>
            <a:pPr algn="ctr">
              <a:defRPr sz="1300" b="1">
                <a:solidFill>
                  <a:srgbClr val="FFFFFF"/>
                </a:solidFill>
              </a:defRPr>
            </a:pPr>
            <a:r>
              <a:t>Después</a:t>
            </a:r>
          </a:p>
        </p:txBody>
      </p:sp>
      <p:sp>
        <p:nvSpPr>
          <p:cNvPr id="11" name="Rectangle 10"/>
          <p:cNvSpPr/>
          <p:nvPr/>
        </p:nvSpPr>
        <p:spPr>
          <a:xfrm>
            <a:off x="731520" y="1645920"/>
            <a:ext cx="36576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0" y="1645920"/>
            <a:ext cx="32004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645920"/>
            <a:ext cx="32004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91640"/>
            <a:ext cx="3657600" cy="365760"/>
          </a:xfrm>
          <a:prstGeom prst="rect">
            <a:avLst/>
          </a:prstGeom>
          <a:noFill/>
        </p:spPr>
        <p:txBody>
          <a:bodyPr wrap="square">
            <a:spAutoFit/>
          </a:bodyPr>
          <a:lstStyle/>
          <a:p>
            <a:pPr algn="l">
              <a:defRPr sz="1200" b="1">
                <a:solidFill>
                  <a:srgbClr val="FFFFFF"/>
                </a:solidFill>
              </a:defRPr>
            </a:pPr>
            <a:r>
              <a:t>Cache en memoria</a:t>
            </a:r>
          </a:p>
        </p:txBody>
      </p:sp>
      <p:sp>
        <p:nvSpPr>
          <p:cNvPr id="15" name="TextBox 14"/>
          <p:cNvSpPr txBox="1"/>
          <p:nvPr/>
        </p:nvSpPr>
        <p:spPr>
          <a:xfrm>
            <a:off x="4754880" y="1691640"/>
            <a:ext cx="3200400" cy="365760"/>
          </a:xfrm>
          <a:prstGeom prst="rect">
            <a:avLst/>
          </a:prstGeom>
          <a:noFill/>
        </p:spPr>
        <p:txBody>
          <a:bodyPr wrap="square">
            <a:spAutoFit/>
          </a:bodyPr>
          <a:lstStyle/>
          <a:p>
            <a:pPr algn="l">
              <a:defRPr sz="1100" b="0">
                <a:solidFill>
                  <a:srgbClr val="FF6666"/>
                </a:solidFill>
              </a:defRPr>
            </a:pPr>
            <a:r>
              <a:t>~10,000 ms (consulta fría)</a:t>
            </a:r>
          </a:p>
        </p:txBody>
      </p:sp>
      <p:sp>
        <p:nvSpPr>
          <p:cNvPr id="16" name="TextBox 15"/>
          <p:cNvSpPr txBox="1"/>
          <p:nvPr/>
        </p:nvSpPr>
        <p:spPr>
          <a:xfrm>
            <a:off x="8229600" y="1691640"/>
            <a:ext cx="3200400" cy="365760"/>
          </a:xfrm>
          <a:prstGeom prst="rect">
            <a:avLst/>
          </a:prstGeom>
          <a:noFill/>
        </p:spPr>
        <p:txBody>
          <a:bodyPr wrap="square">
            <a:spAutoFit/>
          </a:bodyPr>
          <a:lstStyle/>
          <a:p>
            <a:pPr algn="l">
              <a:defRPr sz="1100" b="0">
                <a:solidFill>
                  <a:srgbClr val="22C55E"/>
                </a:solidFill>
              </a:defRPr>
            </a:pPr>
            <a:r>
              <a:t>&lt; 70 ms (cache caliente)</a:t>
            </a:r>
          </a:p>
        </p:txBody>
      </p:sp>
      <p:sp>
        <p:nvSpPr>
          <p:cNvPr id="17" name="Rectangle 16"/>
          <p:cNvSpPr/>
          <p:nvPr/>
        </p:nvSpPr>
        <p:spPr>
          <a:xfrm>
            <a:off x="731520" y="2194560"/>
            <a:ext cx="36576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80" y="2194560"/>
            <a:ext cx="32004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2194560"/>
            <a:ext cx="32004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240279"/>
            <a:ext cx="3657600" cy="365760"/>
          </a:xfrm>
          <a:prstGeom prst="rect">
            <a:avLst/>
          </a:prstGeom>
          <a:noFill/>
        </p:spPr>
        <p:txBody>
          <a:bodyPr wrap="square">
            <a:spAutoFit/>
          </a:bodyPr>
          <a:lstStyle/>
          <a:p>
            <a:pPr algn="l">
              <a:defRPr sz="1200" b="1">
                <a:solidFill>
                  <a:srgbClr val="FFFFFF"/>
                </a:solidFill>
              </a:defRPr>
            </a:pPr>
            <a:r>
              <a:t>Paginación de ventas</a:t>
            </a:r>
          </a:p>
        </p:txBody>
      </p:sp>
      <p:sp>
        <p:nvSpPr>
          <p:cNvPr id="21" name="TextBox 20"/>
          <p:cNvSpPr txBox="1"/>
          <p:nvPr/>
        </p:nvSpPr>
        <p:spPr>
          <a:xfrm>
            <a:off x="4754880" y="2240279"/>
            <a:ext cx="3200400" cy="365760"/>
          </a:xfrm>
          <a:prstGeom prst="rect">
            <a:avLst/>
          </a:prstGeom>
          <a:noFill/>
        </p:spPr>
        <p:txBody>
          <a:bodyPr wrap="square">
            <a:spAutoFit/>
          </a:bodyPr>
          <a:lstStyle/>
          <a:p>
            <a:pPr algn="l">
              <a:defRPr sz="1100" b="0">
                <a:solidFill>
                  <a:srgbClr val="FF6666"/>
                </a:solidFill>
              </a:defRPr>
            </a:pPr>
            <a:r>
              <a:t>Carga completa ~1772 registros</a:t>
            </a:r>
          </a:p>
        </p:txBody>
      </p:sp>
      <p:sp>
        <p:nvSpPr>
          <p:cNvPr id="22" name="TextBox 21"/>
          <p:cNvSpPr txBox="1"/>
          <p:nvPr/>
        </p:nvSpPr>
        <p:spPr>
          <a:xfrm>
            <a:off x="8229600" y="2240279"/>
            <a:ext cx="3200400" cy="365760"/>
          </a:xfrm>
          <a:prstGeom prst="rect">
            <a:avLst/>
          </a:prstGeom>
          <a:noFill/>
        </p:spPr>
        <p:txBody>
          <a:bodyPr wrap="square">
            <a:spAutoFit/>
          </a:bodyPr>
          <a:lstStyle/>
          <a:p>
            <a:pPr algn="l">
              <a:defRPr sz="1100" b="0">
                <a:solidFill>
                  <a:srgbClr val="22C55E"/>
                </a:solidFill>
              </a:defRPr>
            </a:pPr>
            <a:r>
              <a:t>20 registros por página</a:t>
            </a:r>
          </a:p>
        </p:txBody>
      </p:sp>
      <p:sp>
        <p:nvSpPr>
          <p:cNvPr id="23" name="Rectangle 22"/>
          <p:cNvSpPr/>
          <p:nvPr/>
        </p:nvSpPr>
        <p:spPr>
          <a:xfrm>
            <a:off x="731520" y="2743200"/>
            <a:ext cx="36576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0" y="2743200"/>
            <a:ext cx="32004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2743200"/>
            <a:ext cx="32004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788920"/>
            <a:ext cx="3657600" cy="365760"/>
          </a:xfrm>
          <a:prstGeom prst="rect">
            <a:avLst/>
          </a:prstGeom>
          <a:noFill/>
        </p:spPr>
        <p:txBody>
          <a:bodyPr wrap="square">
            <a:spAutoFit/>
          </a:bodyPr>
          <a:lstStyle/>
          <a:p>
            <a:pPr algn="l">
              <a:defRPr sz="1200" b="1">
                <a:solidFill>
                  <a:srgbClr val="FFFFFF"/>
                </a:solidFill>
              </a:defRPr>
            </a:pPr>
            <a:r>
              <a:t>Eliminación N+1</a:t>
            </a:r>
          </a:p>
        </p:txBody>
      </p:sp>
      <p:sp>
        <p:nvSpPr>
          <p:cNvPr id="27" name="TextBox 26"/>
          <p:cNvSpPr txBox="1"/>
          <p:nvPr/>
        </p:nvSpPr>
        <p:spPr>
          <a:xfrm>
            <a:off x="4754880" y="2788920"/>
            <a:ext cx="3200400" cy="365760"/>
          </a:xfrm>
          <a:prstGeom prst="rect">
            <a:avLst/>
          </a:prstGeom>
          <a:noFill/>
        </p:spPr>
        <p:txBody>
          <a:bodyPr wrap="square">
            <a:spAutoFit/>
          </a:bodyPr>
          <a:lstStyle/>
          <a:p>
            <a:pPr algn="l">
              <a:defRPr sz="1100" b="0">
                <a:solidFill>
                  <a:srgbClr val="FF6666"/>
                </a:solidFill>
              </a:defRPr>
            </a:pPr>
            <a:r>
              <a:t>Múltiples queries por relación</a:t>
            </a:r>
          </a:p>
        </p:txBody>
      </p:sp>
      <p:sp>
        <p:nvSpPr>
          <p:cNvPr id="28" name="TextBox 27"/>
          <p:cNvSpPr txBox="1"/>
          <p:nvPr/>
        </p:nvSpPr>
        <p:spPr>
          <a:xfrm>
            <a:off x="8229600" y="2788920"/>
            <a:ext cx="3200400" cy="365760"/>
          </a:xfrm>
          <a:prstGeom prst="rect">
            <a:avLst/>
          </a:prstGeom>
          <a:noFill/>
        </p:spPr>
        <p:txBody>
          <a:bodyPr wrap="square">
            <a:spAutoFit/>
          </a:bodyPr>
          <a:lstStyle/>
          <a:p>
            <a:pPr algn="l">
              <a:defRPr sz="1100" b="0">
                <a:solidFill>
                  <a:srgbClr val="22C55E"/>
                </a:solidFill>
              </a:defRPr>
            </a:pPr>
            <a:r>
              <a:t>JOIN FETCH + @EntityGraph</a:t>
            </a:r>
          </a:p>
        </p:txBody>
      </p:sp>
      <p:sp>
        <p:nvSpPr>
          <p:cNvPr id="29" name="Rectangle 28"/>
          <p:cNvSpPr/>
          <p:nvPr/>
        </p:nvSpPr>
        <p:spPr>
          <a:xfrm>
            <a:off x="731520" y="3291839"/>
            <a:ext cx="36576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54880" y="3291839"/>
            <a:ext cx="32004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0" y="3291839"/>
            <a:ext cx="32004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337559"/>
            <a:ext cx="3657600" cy="365760"/>
          </a:xfrm>
          <a:prstGeom prst="rect">
            <a:avLst/>
          </a:prstGeom>
          <a:noFill/>
        </p:spPr>
        <p:txBody>
          <a:bodyPr wrap="square">
            <a:spAutoFit/>
          </a:bodyPr>
          <a:lstStyle/>
          <a:p>
            <a:pPr algn="l">
              <a:defRPr sz="1200" b="1">
                <a:solidFill>
                  <a:srgbClr val="FFFFFF"/>
                </a:solidFill>
              </a:defRPr>
            </a:pPr>
            <a:r>
              <a:t>Paralelización BFF</a:t>
            </a:r>
          </a:p>
        </p:txBody>
      </p:sp>
      <p:sp>
        <p:nvSpPr>
          <p:cNvPr id="33" name="TextBox 32"/>
          <p:cNvSpPr txBox="1"/>
          <p:nvPr/>
        </p:nvSpPr>
        <p:spPr>
          <a:xfrm>
            <a:off x="4754880" y="3337559"/>
            <a:ext cx="3200400" cy="365760"/>
          </a:xfrm>
          <a:prstGeom prst="rect">
            <a:avLst/>
          </a:prstGeom>
          <a:noFill/>
        </p:spPr>
        <p:txBody>
          <a:bodyPr wrap="square">
            <a:spAutoFit/>
          </a:bodyPr>
          <a:lstStyle/>
          <a:p>
            <a:pPr algn="l">
              <a:defRPr sz="1100" b="0">
                <a:solidFill>
                  <a:srgbClr val="FF6666"/>
                </a:solidFill>
              </a:defRPr>
            </a:pPr>
            <a:r>
              <a:t>7 llamadas secuenciales</a:t>
            </a:r>
          </a:p>
        </p:txBody>
      </p:sp>
      <p:sp>
        <p:nvSpPr>
          <p:cNvPr id="34" name="TextBox 33"/>
          <p:cNvSpPr txBox="1"/>
          <p:nvPr/>
        </p:nvSpPr>
        <p:spPr>
          <a:xfrm>
            <a:off x="8229600" y="3337559"/>
            <a:ext cx="3200400" cy="365760"/>
          </a:xfrm>
          <a:prstGeom prst="rect">
            <a:avLst/>
          </a:prstGeom>
          <a:noFill/>
        </p:spPr>
        <p:txBody>
          <a:bodyPr wrap="square">
            <a:spAutoFit/>
          </a:bodyPr>
          <a:lstStyle/>
          <a:p>
            <a:pPr algn="l">
              <a:defRPr sz="1100" b="0">
                <a:solidFill>
                  <a:srgbClr val="22C55E"/>
                </a:solidFill>
              </a:defRPr>
            </a:pPr>
            <a:r>
              <a:t>7 paralelas con CompletableFuture</a:t>
            </a:r>
          </a:p>
        </p:txBody>
      </p:sp>
      <p:sp>
        <p:nvSpPr>
          <p:cNvPr id="35" name="Rectangle 34"/>
          <p:cNvSpPr/>
          <p:nvPr/>
        </p:nvSpPr>
        <p:spPr>
          <a:xfrm>
            <a:off x="731520" y="3840480"/>
            <a:ext cx="36576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4880" y="3840480"/>
            <a:ext cx="32004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9600" y="3840480"/>
            <a:ext cx="3200400" cy="45720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3886200"/>
            <a:ext cx="3657600" cy="365760"/>
          </a:xfrm>
          <a:prstGeom prst="rect">
            <a:avLst/>
          </a:prstGeom>
          <a:noFill/>
        </p:spPr>
        <p:txBody>
          <a:bodyPr wrap="square">
            <a:spAutoFit/>
          </a:bodyPr>
          <a:lstStyle/>
          <a:p>
            <a:pPr algn="l">
              <a:defRPr sz="1200" b="1">
                <a:solidFill>
                  <a:srgbClr val="FFFFFF"/>
                </a:solidFill>
              </a:defRPr>
            </a:pPr>
            <a:r>
              <a:t>Pool de conexiones HTTP</a:t>
            </a:r>
          </a:p>
        </p:txBody>
      </p:sp>
      <p:sp>
        <p:nvSpPr>
          <p:cNvPr id="39" name="TextBox 38"/>
          <p:cNvSpPr txBox="1"/>
          <p:nvPr/>
        </p:nvSpPr>
        <p:spPr>
          <a:xfrm>
            <a:off x="4754880" y="3886200"/>
            <a:ext cx="3200400" cy="365760"/>
          </a:xfrm>
          <a:prstGeom prst="rect">
            <a:avLst/>
          </a:prstGeom>
          <a:noFill/>
        </p:spPr>
        <p:txBody>
          <a:bodyPr wrap="square">
            <a:spAutoFit/>
          </a:bodyPr>
          <a:lstStyle/>
          <a:p>
            <a:pPr algn="l">
              <a:defRPr sz="1100" b="0">
                <a:solidFill>
                  <a:srgbClr val="FF6666"/>
                </a:solidFill>
              </a:defRPr>
            </a:pPr>
            <a:r>
              <a:t>Conexión por request</a:t>
            </a:r>
          </a:p>
        </p:txBody>
      </p:sp>
      <p:sp>
        <p:nvSpPr>
          <p:cNvPr id="40" name="TextBox 39"/>
          <p:cNvSpPr txBox="1"/>
          <p:nvPr/>
        </p:nvSpPr>
        <p:spPr>
          <a:xfrm>
            <a:off x="8229600" y="3886200"/>
            <a:ext cx="3200400" cy="365760"/>
          </a:xfrm>
          <a:prstGeom prst="rect">
            <a:avLst/>
          </a:prstGeom>
          <a:noFill/>
        </p:spPr>
        <p:txBody>
          <a:bodyPr wrap="square">
            <a:spAutoFit/>
          </a:bodyPr>
          <a:lstStyle/>
          <a:p>
            <a:pPr algn="l">
              <a:defRPr sz="1100" b="0">
                <a:solidFill>
                  <a:srgbClr val="22C55E"/>
                </a:solidFill>
              </a:defRPr>
            </a:pPr>
            <a:r>
              <a:t>Pool 50 con timeout 5s/10s</a:t>
            </a:r>
          </a:p>
        </p:txBody>
      </p:sp>
      <p:sp>
        <p:nvSpPr>
          <p:cNvPr id="41" name="Rectangle 40"/>
          <p:cNvSpPr/>
          <p:nvPr/>
        </p:nvSpPr>
        <p:spPr>
          <a:xfrm>
            <a:off x="731520" y="4389120"/>
            <a:ext cx="36576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754880" y="4389120"/>
            <a:ext cx="32004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29600" y="4389120"/>
            <a:ext cx="3200400" cy="45720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434840"/>
            <a:ext cx="3657600" cy="365760"/>
          </a:xfrm>
          <a:prstGeom prst="rect">
            <a:avLst/>
          </a:prstGeom>
          <a:noFill/>
        </p:spPr>
        <p:txBody>
          <a:bodyPr wrap="square">
            <a:spAutoFit/>
          </a:bodyPr>
          <a:lstStyle/>
          <a:p>
            <a:pPr algn="l">
              <a:defRPr sz="1200" b="1">
                <a:solidFill>
                  <a:srgbClr val="FFFFFF"/>
                </a:solidFill>
              </a:defRPr>
            </a:pPr>
            <a:r>
              <a:t>Índices en BD</a:t>
            </a:r>
          </a:p>
        </p:txBody>
      </p:sp>
      <p:sp>
        <p:nvSpPr>
          <p:cNvPr id="45" name="TextBox 44"/>
          <p:cNvSpPr txBox="1"/>
          <p:nvPr/>
        </p:nvSpPr>
        <p:spPr>
          <a:xfrm>
            <a:off x="4754880" y="4434840"/>
            <a:ext cx="3200400" cy="365760"/>
          </a:xfrm>
          <a:prstGeom prst="rect">
            <a:avLst/>
          </a:prstGeom>
          <a:noFill/>
        </p:spPr>
        <p:txBody>
          <a:bodyPr wrap="square">
            <a:spAutoFit/>
          </a:bodyPr>
          <a:lstStyle/>
          <a:p>
            <a:pPr algn="l">
              <a:defRPr sz="1100" b="0">
                <a:solidFill>
                  <a:srgbClr val="FF6666"/>
                </a:solidFill>
              </a:defRPr>
            </a:pPr>
            <a:r>
              <a:t>Full table scans</a:t>
            </a:r>
          </a:p>
        </p:txBody>
      </p:sp>
      <p:sp>
        <p:nvSpPr>
          <p:cNvPr id="46" name="TextBox 45"/>
          <p:cNvSpPr txBox="1"/>
          <p:nvPr/>
        </p:nvSpPr>
        <p:spPr>
          <a:xfrm>
            <a:off x="8229600" y="4434840"/>
            <a:ext cx="3200400" cy="365760"/>
          </a:xfrm>
          <a:prstGeom prst="rect">
            <a:avLst/>
          </a:prstGeom>
          <a:noFill/>
        </p:spPr>
        <p:txBody>
          <a:bodyPr wrap="square">
            <a:spAutoFit/>
          </a:bodyPr>
          <a:lstStyle/>
          <a:p>
            <a:pPr algn="l">
              <a:defRPr sz="1100" b="0">
                <a:solidFill>
                  <a:srgbClr val="22C55E"/>
                </a:solidFill>
              </a:defRPr>
            </a:pPr>
            <a:r>
              <a:t>Covering indexes compuestos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Credenciales de Prueba &amp; API Endpoints</a:t>
            </a:r>
          </a:p>
        </p:txBody>
      </p:sp>
      <p:sp>
        <p:nvSpPr>
          <p:cNvPr id="4" name="Rectangle 3"/>
          <p:cNvSpPr/>
          <p:nvPr/>
        </p:nvSpPr>
        <p:spPr>
          <a:xfrm>
            <a:off x="731520" y="1188720"/>
            <a:ext cx="50292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16152"/>
            <a:ext cx="5029200" cy="320040"/>
          </a:xfrm>
          <a:prstGeom prst="rect">
            <a:avLst/>
          </a:prstGeom>
          <a:noFill/>
        </p:spPr>
        <p:txBody>
          <a:bodyPr wrap="square">
            <a:spAutoFit/>
          </a:bodyPr>
          <a:lstStyle/>
          <a:p>
            <a:pPr algn="ctr">
              <a:defRPr sz="1600" b="1">
                <a:solidFill>
                  <a:srgbClr val="FFFFFF"/>
                </a:solidFill>
              </a:defRPr>
            </a:pPr>
            <a:r>
              <a:t>Credenciales</a:t>
            </a:r>
          </a:p>
        </p:txBody>
      </p:sp>
      <p:sp>
        <p:nvSpPr>
          <p:cNvPr id="6" name="Rectangle 5"/>
          <p:cNvSpPr/>
          <p:nvPr/>
        </p:nvSpPr>
        <p:spPr>
          <a:xfrm>
            <a:off x="731520" y="1645920"/>
            <a:ext cx="164592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68880" y="1645920"/>
            <a:ext cx="164592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06240" y="1645920"/>
            <a:ext cx="15544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8"/>
            <a:ext cx="1645920" cy="274320"/>
          </a:xfrm>
          <a:prstGeom prst="rect">
            <a:avLst/>
          </a:prstGeom>
          <a:noFill/>
        </p:spPr>
        <p:txBody>
          <a:bodyPr wrap="square">
            <a:spAutoFit/>
          </a:bodyPr>
          <a:lstStyle/>
          <a:p>
            <a:pPr algn="ctr">
              <a:defRPr sz="1100" b="1">
                <a:solidFill>
                  <a:srgbClr val="FFFFFF"/>
                </a:solidFill>
              </a:defRPr>
            </a:pPr>
            <a:r>
              <a:t>admin</a:t>
            </a:r>
          </a:p>
        </p:txBody>
      </p:sp>
      <p:sp>
        <p:nvSpPr>
          <p:cNvPr id="10" name="TextBox 9"/>
          <p:cNvSpPr txBox="1"/>
          <p:nvPr/>
        </p:nvSpPr>
        <p:spPr>
          <a:xfrm>
            <a:off x="2468880" y="1664208"/>
            <a:ext cx="1645920" cy="274320"/>
          </a:xfrm>
          <a:prstGeom prst="rect">
            <a:avLst/>
          </a:prstGeom>
          <a:noFill/>
        </p:spPr>
        <p:txBody>
          <a:bodyPr wrap="square">
            <a:spAutoFit/>
          </a:bodyPr>
          <a:lstStyle/>
          <a:p>
            <a:pPr algn="ctr">
              <a:defRPr sz="1100" b="0">
                <a:solidFill>
                  <a:srgbClr val="CCDDEE"/>
                </a:solidFill>
              </a:defRPr>
            </a:pPr>
            <a:r>
              <a:t>admin123</a:t>
            </a:r>
          </a:p>
        </p:txBody>
      </p:sp>
      <p:sp>
        <p:nvSpPr>
          <p:cNvPr id="11" name="TextBox 10"/>
          <p:cNvSpPr txBox="1"/>
          <p:nvPr/>
        </p:nvSpPr>
        <p:spPr>
          <a:xfrm>
            <a:off x="4206240" y="1664208"/>
            <a:ext cx="1554480" cy="274320"/>
          </a:xfrm>
          <a:prstGeom prst="rect">
            <a:avLst/>
          </a:prstGeom>
          <a:noFill/>
        </p:spPr>
        <p:txBody>
          <a:bodyPr wrap="square">
            <a:spAutoFit/>
          </a:bodyPr>
          <a:lstStyle/>
          <a:p>
            <a:pPr algn="ctr">
              <a:defRPr sz="1100" b="0">
                <a:solidFill>
                  <a:srgbClr val="22C55E"/>
                </a:solidFill>
              </a:defRPr>
            </a:pPr>
            <a:r>
              <a:t>ADMIN</a:t>
            </a:r>
          </a:p>
        </p:txBody>
      </p:sp>
      <p:sp>
        <p:nvSpPr>
          <p:cNvPr id="12" name="Rectangle 11"/>
          <p:cNvSpPr/>
          <p:nvPr/>
        </p:nvSpPr>
        <p:spPr>
          <a:xfrm>
            <a:off x="731520" y="2057400"/>
            <a:ext cx="164592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68880" y="2057400"/>
            <a:ext cx="164592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2057400"/>
            <a:ext cx="15544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075688"/>
            <a:ext cx="1645920" cy="274320"/>
          </a:xfrm>
          <a:prstGeom prst="rect">
            <a:avLst/>
          </a:prstGeom>
          <a:noFill/>
        </p:spPr>
        <p:txBody>
          <a:bodyPr wrap="square">
            <a:spAutoFit/>
          </a:bodyPr>
          <a:lstStyle/>
          <a:p>
            <a:pPr algn="ctr">
              <a:defRPr sz="1100" b="1">
                <a:solidFill>
                  <a:srgbClr val="FFFFFF"/>
                </a:solidFill>
              </a:defRPr>
            </a:pPr>
            <a:r>
              <a:t>vendedor</a:t>
            </a:r>
          </a:p>
        </p:txBody>
      </p:sp>
      <p:sp>
        <p:nvSpPr>
          <p:cNvPr id="16" name="TextBox 15"/>
          <p:cNvSpPr txBox="1"/>
          <p:nvPr/>
        </p:nvSpPr>
        <p:spPr>
          <a:xfrm>
            <a:off x="2468880" y="2075688"/>
            <a:ext cx="1645920" cy="274320"/>
          </a:xfrm>
          <a:prstGeom prst="rect">
            <a:avLst/>
          </a:prstGeom>
          <a:noFill/>
        </p:spPr>
        <p:txBody>
          <a:bodyPr wrap="square">
            <a:spAutoFit/>
          </a:bodyPr>
          <a:lstStyle/>
          <a:p>
            <a:pPr algn="ctr">
              <a:defRPr sz="1100" b="0">
                <a:solidFill>
                  <a:srgbClr val="CCDDEE"/>
                </a:solidFill>
              </a:defRPr>
            </a:pPr>
            <a:r>
              <a:t>ventas123</a:t>
            </a:r>
          </a:p>
        </p:txBody>
      </p:sp>
      <p:sp>
        <p:nvSpPr>
          <p:cNvPr id="17" name="TextBox 16"/>
          <p:cNvSpPr txBox="1"/>
          <p:nvPr/>
        </p:nvSpPr>
        <p:spPr>
          <a:xfrm>
            <a:off x="4206240" y="2075688"/>
            <a:ext cx="1554480" cy="274320"/>
          </a:xfrm>
          <a:prstGeom prst="rect">
            <a:avLst/>
          </a:prstGeom>
          <a:noFill/>
        </p:spPr>
        <p:txBody>
          <a:bodyPr wrap="square">
            <a:spAutoFit/>
          </a:bodyPr>
          <a:lstStyle/>
          <a:p>
            <a:pPr algn="ctr">
              <a:defRPr sz="1100" b="0">
                <a:solidFill>
                  <a:srgbClr val="22C55E"/>
                </a:solidFill>
              </a:defRPr>
            </a:pPr>
            <a:r>
              <a:t>VENDEDOR</a:t>
            </a:r>
          </a:p>
        </p:txBody>
      </p:sp>
      <p:sp>
        <p:nvSpPr>
          <p:cNvPr id="18" name="Rectangle 17"/>
          <p:cNvSpPr/>
          <p:nvPr/>
        </p:nvSpPr>
        <p:spPr>
          <a:xfrm>
            <a:off x="731520" y="2468880"/>
            <a:ext cx="164592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68880" y="2468880"/>
            <a:ext cx="164592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0" y="2468880"/>
            <a:ext cx="15544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487168"/>
            <a:ext cx="1645920" cy="274320"/>
          </a:xfrm>
          <a:prstGeom prst="rect">
            <a:avLst/>
          </a:prstGeom>
          <a:noFill/>
        </p:spPr>
        <p:txBody>
          <a:bodyPr wrap="square">
            <a:spAutoFit/>
          </a:bodyPr>
          <a:lstStyle/>
          <a:p>
            <a:pPr algn="ctr">
              <a:defRPr sz="1100" b="1">
                <a:solidFill>
                  <a:srgbClr val="FFFFFF"/>
                </a:solidFill>
              </a:defRPr>
            </a:pPr>
            <a:r>
              <a:t>bodega</a:t>
            </a:r>
          </a:p>
        </p:txBody>
      </p:sp>
      <p:sp>
        <p:nvSpPr>
          <p:cNvPr id="22" name="TextBox 21"/>
          <p:cNvSpPr txBox="1"/>
          <p:nvPr/>
        </p:nvSpPr>
        <p:spPr>
          <a:xfrm>
            <a:off x="2468880" y="2487168"/>
            <a:ext cx="1645920" cy="274320"/>
          </a:xfrm>
          <a:prstGeom prst="rect">
            <a:avLst/>
          </a:prstGeom>
          <a:noFill/>
        </p:spPr>
        <p:txBody>
          <a:bodyPr wrap="square">
            <a:spAutoFit/>
          </a:bodyPr>
          <a:lstStyle/>
          <a:p>
            <a:pPr algn="ctr">
              <a:defRPr sz="1100" b="0">
                <a:solidFill>
                  <a:srgbClr val="CCDDEE"/>
                </a:solidFill>
              </a:defRPr>
            </a:pPr>
            <a:r>
              <a:t>bodega123</a:t>
            </a:r>
          </a:p>
        </p:txBody>
      </p:sp>
      <p:sp>
        <p:nvSpPr>
          <p:cNvPr id="23" name="TextBox 22"/>
          <p:cNvSpPr txBox="1"/>
          <p:nvPr/>
        </p:nvSpPr>
        <p:spPr>
          <a:xfrm>
            <a:off x="4206240" y="2487168"/>
            <a:ext cx="1554480" cy="274320"/>
          </a:xfrm>
          <a:prstGeom prst="rect">
            <a:avLst/>
          </a:prstGeom>
          <a:noFill/>
        </p:spPr>
        <p:txBody>
          <a:bodyPr wrap="square">
            <a:spAutoFit/>
          </a:bodyPr>
          <a:lstStyle/>
          <a:p>
            <a:pPr algn="ctr">
              <a:defRPr sz="1100" b="0">
                <a:solidFill>
                  <a:srgbClr val="22C55E"/>
                </a:solidFill>
              </a:defRPr>
            </a:pPr>
            <a:r>
              <a:t>BODEGA</a:t>
            </a:r>
          </a:p>
        </p:txBody>
      </p:sp>
      <p:sp>
        <p:nvSpPr>
          <p:cNvPr id="24" name="Rectangle 23"/>
          <p:cNvSpPr/>
          <p:nvPr/>
        </p:nvSpPr>
        <p:spPr>
          <a:xfrm>
            <a:off x="731520" y="2880360"/>
            <a:ext cx="164592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468880" y="2880360"/>
            <a:ext cx="164592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06240" y="2880360"/>
            <a:ext cx="15544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898648"/>
            <a:ext cx="1645920" cy="274320"/>
          </a:xfrm>
          <a:prstGeom prst="rect">
            <a:avLst/>
          </a:prstGeom>
          <a:noFill/>
        </p:spPr>
        <p:txBody>
          <a:bodyPr wrap="square">
            <a:spAutoFit/>
          </a:bodyPr>
          <a:lstStyle/>
          <a:p>
            <a:pPr algn="ctr">
              <a:defRPr sz="1100" b="1">
                <a:solidFill>
                  <a:srgbClr val="FFFFFF"/>
                </a:solidFill>
              </a:defRPr>
            </a:pPr>
            <a:r>
              <a:t>carla</a:t>
            </a:r>
          </a:p>
        </p:txBody>
      </p:sp>
      <p:sp>
        <p:nvSpPr>
          <p:cNvPr id="28" name="TextBox 27"/>
          <p:cNvSpPr txBox="1"/>
          <p:nvPr/>
        </p:nvSpPr>
        <p:spPr>
          <a:xfrm>
            <a:off x="2468880" y="2898648"/>
            <a:ext cx="1645920" cy="274320"/>
          </a:xfrm>
          <a:prstGeom prst="rect">
            <a:avLst/>
          </a:prstGeom>
          <a:noFill/>
        </p:spPr>
        <p:txBody>
          <a:bodyPr wrap="square">
            <a:spAutoFit/>
          </a:bodyPr>
          <a:lstStyle/>
          <a:p>
            <a:pPr algn="ctr">
              <a:defRPr sz="1100" b="0">
                <a:solidFill>
                  <a:srgbClr val="CCDDEE"/>
                </a:solidFill>
              </a:defRPr>
            </a:pPr>
            <a:r>
              <a:t>carla123</a:t>
            </a:r>
          </a:p>
        </p:txBody>
      </p:sp>
      <p:sp>
        <p:nvSpPr>
          <p:cNvPr id="29" name="TextBox 28"/>
          <p:cNvSpPr txBox="1"/>
          <p:nvPr/>
        </p:nvSpPr>
        <p:spPr>
          <a:xfrm>
            <a:off x="4206240" y="2898648"/>
            <a:ext cx="1554480" cy="274320"/>
          </a:xfrm>
          <a:prstGeom prst="rect">
            <a:avLst/>
          </a:prstGeom>
          <a:noFill/>
        </p:spPr>
        <p:txBody>
          <a:bodyPr wrap="square">
            <a:spAutoFit/>
          </a:bodyPr>
          <a:lstStyle/>
          <a:p>
            <a:pPr algn="ctr">
              <a:defRPr sz="1100" b="0">
                <a:solidFill>
                  <a:srgbClr val="22C55E"/>
                </a:solidFill>
              </a:defRPr>
            </a:pPr>
            <a:r>
              <a:t>VENDEDOR</a:t>
            </a:r>
          </a:p>
        </p:txBody>
      </p:sp>
      <p:sp>
        <p:nvSpPr>
          <p:cNvPr id="30" name="Rectangle 29"/>
          <p:cNvSpPr/>
          <p:nvPr/>
        </p:nvSpPr>
        <p:spPr>
          <a:xfrm>
            <a:off x="731520" y="3291840"/>
            <a:ext cx="164592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468880" y="3291840"/>
            <a:ext cx="164592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06240" y="3291840"/>
            <a:ext cx="15544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310128"/>
            <a:ext cx="1645920" cy="274320"/>
          </a:xfrm>
          <a:prstGeom prst="rect">
            <a:avLst/>
          </a:prstGeom>
          <a:noFill/>
        </p:spPr>
        <p:txBody>
          <a:bodyPr wrap="square">
            <a:spAutoFit/>
          </a:bodyPr>
          <a:lstStyle/>
          <a:p>
            <a:pPr algn="ctr">
              <a:defRPr sz="1100" b="1">
                <a:solidFill>
                  <a:srgbClr val="FFFFFF"/>
                </a:solidFill>
              </a:defRPr>
            </a:pPr>
            <a:r>
              <a:t>ana</a:t>
            </a:r>
          </a:p>
        </p:txBody>
      </p:sp>
      <p:sp>
        <p:nvSpPr>
          <p:cNvPr id="34" name="TextBox 33"/>
          <p:cNvSpPr txBox="1"/>
          <p:nvPr/>
        </p:nvSpPr>
        <p:spPr>
          <a:xfrm>
            <a:off x="2468880" y="3310128"/>
            <a:ext cx="1645920" cy="274320"/>
          </a:xfrm>
          <a:prstGeom prst="rect">
            <a:avLst/>
          </a:prstGeom>
          <a:noFill/>
        </p:spPr>
        <p:txBody>
          <a:bodyPr wrap="square">
            <a:spAutoFit/>
          </a:bodyPr>
          <a:lstStyle/>
          <a:p>
            <a:pPr algn="ctr">
              <a:defRPr sz="1100" b="0">
                <a:solidFill>
                  <a:srgbClr val="CCDDEE"/>
                </a:solidFill>
              </a:defRPr>
            </a:pPr>
            <a:r>
              <a:t>ana123</a:t>
            </a:r>
          </a:p>
        </p:txBody>
      </p:sp>
      <p:sp>
        <p:nvSpPr>
          <p:cNvPr id="35" name="TextBox 34"/>
          <p:cNvSpPr txBox="1"/>
          <p:nvPr/>
        </p:nvSpPr>
        <p:spPr>
          <a:xfrm>
            <a:off x="4206240" y="3310128"/>
            <a:ext cx="1554480" cy="274320"/>
          </a:xfrm>
          <a:prstGeom prst="rect">
            <a:avLst/>
          </a:prstGeom>
          <a:noFill/>
        </p:spPr>
        <p:txBody>
          <a:bodyPr wrap="square">
            <a:spAutoFit/>
          </a:bodyPr>
          <a:lstStyle/>
          <a:p>
            <a:pPr algn="ctr">
              <a:defRPr sz="1100" b="0">
                <a:solidFill>
                  <a:srgbClr val="22C55E"/>
                </a:solidFill>
              </a:defRPr>
            </a:pPr>
            <a:r>
              <a:t>ADMIN</a:t>
            </a:r>
          </a:p>
        </p:txBody>
      </p:sp>
      <p:sp>
        <p:nvSpPr>
          <p:cNvPr id="36" name="Rectangle 35"/>
          <p:cNvSpPr/>
          <p:nvPr/>
        </p:nvSpPr>
        <p:spPr>
          <a:xfrm>
            <a:off x="731520" y="3703320"/>
            <a:ext cx="164592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468880" y="3703320"/>
            <a:ext cx="164592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06240" y="3703320"/>
            <a:ext cx="15544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3721607"/>
            <a:ext cx="1645920" cy="274320"/>
          </a:xfrm>
          <a:prstGeom prst="rect">
            <a:avLst/>
          </a:prstGeom>
          <a:noFill/>
        </p:spPr>
        <p:txBody>
          <a:bodyPr wrap="square">
            <a:spAutoFit/>
          </a:bodyPr>
          <a:lstStyle/>
          <a:p>
            <a:pPr algn="ctr">
              <a:defRPr sz="1100" b="1">
                <a:solidFill>
                  <a:srgbClr val="FFFFFF"/>
                </a:solidFill>
              </a:defRPr>
            </a:pPr>
            <a:r>
              <a:t>luis</a:t>
            </a:r>
          </a:p>
        </p:txBody>
      </p:sp>
      <p:sp>
        <p:nvSpPr>
          <p:cNvPr id="40" name="TextBox 39"/>
          <p:cNvSpPr txBox="1"/>
          <p:nvPr/>
        </p:nvSpPr>
        <p:spPr>
          <a:xfrm>
            <a:off x="2468880" y="3721607"/>
            <a:ext cx="1645920" cy="274320"/>
          </a:xfrm>
          <a:prstGeom prst="rect">
            <a:avLst/>
          </a:prstGeom>
          <a:noFill/>
        </p:spPr>
        <p:txBody>
          <a:bodyPr wrap="square">
            <a:spAutoFit/>
          </a:bodyPr>
          <a:lstStyle/>
          <a:p>
            <a:pPr algn="ctr">
              <a:defRPr sz="1100" b="0">
                <a:solidFill>
                  <a:srgbClr val="CCDDEE"/>
                </a:solidFill>
              </a:defRPr>
            </a:pPr>
            <a:r>
              <a:t>luis123</a:t>
            </a:r>
          </a:p>
        </p:txBody>
      </p:sp>
      <p:sp>
        <p:nvSpPr>
          <p:cNvPr id="41" name="TextBox 40"/>
          <p:cNvSpPr txBox="1"/>
          <p:nvPr/>
        </p:nvSpPr>
        <p:spPr>
          <a:xfrm>
            <a:off x="4206240" y="3721607"/>
            <a:ext cx="1554480" cy="274320"/>
          </a:xfrm>
          <a:prstGeom prst="rect">
            <a:avLst/>
          </a:prstGeom>
          <a:noFill/>
        </p:spPr>
        <p:txBody>
          <a:bodyPr wrap="square">
            <a:spAutoFit/>
          </a:bodyPr>
          <a:lstStyle/>
          <a:p>
            <a:pPr algn="ctr">
              <a:defRPr sz="1100" b="0">
                <a:solidFill>
                  <a:srgbClr val="22C55E"/>
                </a:solidFill>
              </a:defRPr>
            </a:pPr>
            <a:r>
              <a:t>VENDEDOR</a:t>
            </a:r>
          </a:p>
        </p:txBody>
      </p:sp>
      <p:sp>
        <p:nvSpPr>
          <p:cNvPr id="42" name="Rectangle 41"/>
          <p:cNvSpPr/>
          <p:nvPr/>
        </p:nvSpPr>
        <p:spPr>
          <a:xfrm>
            <a:off x="6400800" y="1188720"/>
            <a:ext cx="502920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1216152"/>
            <a:ext cx="5029200" cy="320040"/>
          </a:xfrm>
          <a:prstGeom prst="rect">
            <a:avLst/>
          </a:prstGeom>
          <a:noFill/>
        </p:spPr>
        <p:txBody>
          <a:bodyPr wrap="square">
            <a:spAutoFit/>
          </a:bodyPr>
          <a:lstStyle/>
          <a:p>
            <a:pPr algn="ctr">
              <a:defRPr sz="1600" b="1">
                <a:solidFill>
                  <a:srgbClr val="FFFFFF"/>
                </a:solidFill>
              </a:defRPr>
            </a:pPr>
            <a:r>
              <a:t>API Endpoints Principales</a:t>
            </a:r>
          </a:p>
        </p:txBody>
      </p:sp>
      <p:sp>
        <p:nvSpPr>
          <p:cNvPr id="44" name="Rectangle 43"/>
          <p:cNvSpPr/>
          <p:nvPr/>
        </p:nvSpPr>
        <p:spPr>
          <a:xfrm>
            <a:off x="6400800" y="1645920"/>
            <a:ext cx="29260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418320" y="1645920"/>
            <a:ext cx="20116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1664208"/>
            <a:ext cx="2926080" cy="274320"/>
          </a:xfrm>
          <a:prstGeom prst="rect">
            <a:avLst/>
          </a:prstGeom>
          <a:noFill/>
        </p:spPr>
        <p:txBody>
          <a:bodyPr wrap="square">
            <a:spAutoFit/>
          </a:bodyPr>
          <a:lstStyle/>
          <a:p>
            <a:pPr algn="ctr">
              <a:defRPr sz="1000" b="1">
                <a:solidFill>
                  <a:srgbClr val="FFFFFF"/>
                </a:solidFill>
              </a:defRPr>
            </a:pPr>
            <a:r>
              <a:t>POST /api/auth/login</a:t>
            </a:r>
          </a:p>
        </p:txBody>
      </p:sp>
      <p:sp>
        <p:nvSpPr>
          <p:cNvPr id="47" name="TextBox 46"/>
          <p:cNvSpPr txBox="1"/>
          <p:nvPr/>
        </p:nvSpPr>
        <p:spPr>
          <a:xfrm>
            <a:off x="9418320" y="1664208"/>
            <a:ext cx="2011680" cy="274320"/>
          </a:xfrm>
          <a:prstGeom prst="rect">
            <a:avLst/>
          </a:prstGeom>
          <a:noFill/>
        </p:spPr>
        <p:txBody>
          <a:bodyPr wrap="square">
            <a:spAutoFit/>
          </a:bodyPr>
          <a:lstStyle/>
          <a:p>
            <a:pPr algn="l">
              <a:defRPr sz="1000" b="0">
                <a:solidFill>
                  <a:srgbClr val="CCDDEE"/>
                </a:solidFill>
              </a:defRPr>
            </a:pPr>
            <a:r>
              <a:t>Inicio de sesión (JWT)</a:t>
            </a:r>
          </a:p>
        </p:txBody>
      </p:sp>
      <p:sp>
        <p:nvSpPr>
          <p:cNvPr id="48" name="Rectangle 47"/>
          <p:cNvSpPr/>
          <p:nvPr/>
        </p:nvSpPr>
        <p:spPr>
          <a:xfrm>
            <a:off x="6400800" y="2057400"/>
            <a:ext cx="29260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418320" y="2057400"/>
            <a:ext cx="20116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2075688"/>
            <a:ext cx="2926080" cy="274320"/>
          </a:xfrm>
          <a:prstGeom prst="rect">
            <a:avLst/>
          </a:prstGeom>
          <a:noFill/>
        </p:spPr>
        <p:txBody>
          <a:bodyPr wrap="square">
            <a:spAutoFit/>
          </a:bodyPr>
          <a:lstStyle/>
          <a:p>
            <a:pPr algn="ctr">
              <a:defRPr sz="1000" b="1">
                <a:solidFill>
                  <a:srgbClr val="FFFFFF"/>
                </a:solidFill>
              </a:defRPr>
            </a:pPr>
            <a:r>
              <a:t>GET /api/bff/dashboard</a:t>
            </a:r>
          </a:p>
        </p:txBody>
      </p:sp>
      <p:sp>
        <p:nvSpPr>
          <p:cNvPr id="51" name="TextBox 50"/>
          <p:cNvSpPr txBox="1"/>
          <p:nvPr/>
        </p:nvSpPr>
        <p:spPr>
          <a:xfrm>
            <a:off x="9418320" y="2075688"/>
            <a:ext cx="2011680" cy="274320"/>
          </a:xfrm>
          <a:prstGeom prst="rect">
            <a:avLst/>
          </a:prstGeom>
          <a:noFill/>
        </p:spPr>
        <p:txBody>
          <a:bodyPr wrap="square">
            <a:spAutoFit/>
          </a:bodyPr>
          <a:lstStyle/>
          <a:p>
            <a:pPr algn="l">
              <a:defRPr sz="1000" b="0">
                <a:solidFill>
                  <a:srgbClr val="CCDDEE"/>
                </a:solidFill>
              </a:defRPr>
            </a:pPr>
            <a:r>
              <a:t>Dashboard consolidado</a:t>
            </a:r>
          </a:p>
        </p:txBody>
      </p:sp>
      <p:sp>
        <p:nvSpPr>
          <p:cNvPr id="52" name="Rectangle 51"/>
          <p:cNvSpPr/>
          <p:nvPr/>
        </p:nvSpPr>
        <p:spPr>
          <a:xfrm>
            <a:off x="6400800" y="2468880"/>
            <a:ext cx="29260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418320" y="2468880"/>
            <a:ext cx="20116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2487168"/>
            <a:ext cx="2926080" cy="274320"/>
          </a:xfrm>
          <a:prstGeom prst="rect">
            <a:avLst/>
          </a:prstGeom>
          <a:noFill/>
        </p:spPr>
        <p:txBody>
          <a:bodyPr wrap="square">
            <a:spAutoFit/>
          </a:bodyPr>
          <a:lstStyle/>
          <a:p>
            <a:pPr algn="ctr">
              <a:defRPr sz="1000" b="1">
                <a:solidFill>
                  <a:srgbClr val="FFFFFF"/>
                </a:solidFill>
              </a:defRPr>
            </a:pPr>
            <a:r>
              <a:t>GET /api/ventas</a:t>
            </a:r>
          </a:p>
        </p:txBody>
      </p:sp>
      <p:sp>
        <p:nvSpPr>
          <p:cNvPr id="55" name="TextBox 54"/>
          <p:cNvSpPr txBox="1"/>
          <p:nvPr/>
        </p:nvSpPr>
        <p:spPr>
          <a:xfrm>
            <a:off x="9418320" y="2487168"/>
            <a:ext cx="2011680" cy="274320"/>
          </a:xfrm>
          <a:prstGeom prst="rect">
            <a:avLst/>
          </a:prstGeom>
          <a:noFill/>
        </p:spPr>
        <p:txBody>
          <a:bodyPr wrap="square">
            <a:spAutoFit/>
          </a:bodyPr>
          <a:lstStyle/>
          <a:p>
            <a:pPr algn="l">
              <a:defRPr sz="1000" b="0">
                <a:solidFill>
                  <a:srgbClr val="CCDDEE"/>
                </a:solidFill>
              </a:defRPr>
            </a:pPr>
            <a:r>
              <a:t>Ventas paginadas</a:t>
            </a:r>
          </a:p>
        </p:txBody>
      </p:sp>
      <p:sp>
        <p:nvSpPr>
          <p:cNvPr id="56" name="Rectangle 55"/>
          <p:cNvSpPr/>
          <p:nvPr/>
        </p:nvSpPr>
        <p:spPr>
          <a:xfrm>
            <a:off x="6400800" y="2880360"/>
            <a:ext cx="29260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418320" y="2880360"/>
            <a:ext cx="20116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0" y="2898648"/>
            <a:ext cx="2926080" cy="274320"/>
          </a:xfrm>
          <a:prstGeom prst="rect">
            <a:avLst/>
          </a:prstGeom>
          <a:noFill/>
        </p:spPr>
        <p:txBody>
          <a:bodyPr wrap="square">
            <a:spAutoFit/>
          </a:bodyPr>
          <a:lstStyle/>
          <a:p>
            <a:pPr algn="ctr">
              <a:defRPr sz="1000" b="1">
                <a:solidFill>
                  <a:srgbClr val="FFFFFF"/>
                </a:solidFill>
              </a:defRPr>
            </a:pPr>
            <a:r>
              <a:t>GET /api/productos</a:t>
            </a:r>
          </a:p>
        </p:txBody>
      </p:sp>
      <p:sp>
        <p:nvSpPr>
          <p:cNvPr id="59" name="TextBox 58"/>
          <p:cNvSpPr txBox="1"/>
          <p:nvPr/>
        </p:nvSpPr>
        <p:spPr>
          <a:xfrm>
            <a:off x="9418320" y="2898648"/>
            <a:ext cx="2011680" cy="274320"/>
          </a:xfrm>
          <a:prstGeom prst="rect">
            <a:avLst/>
          </a:prstGeom>
          <a:noFill/>
        </p:spPr>
        <p:txBody>
          <a:bodyPr wrap="square">
            <a:spAutoFit/>
          </a:bodyPr>
          <a:lstStyle/>
          <a:p>
            <a:pPr algn="l">
              <a:defRPr sz="1000" b="0">
                <a:solidFill>
                  <a:srgbClr val="CCDDEE"/>
                </a:solidFill>
              </a:defRPr>
            </a:pPr>
            <a:r>
              <a:t>Productos con imágenes</a:t>
            </a:r>
          </a:p>
        </p:txBody>
      </p:sp>
      <p:sp>
        <p:nvSpPr>
          <p:cNvPr id="60" name="Rectangle 59"/>
          <p:cNvSpPr/>
          <p:nvPr/>
        </p:nvSpPr>
        <p:spPr>
          <a:xfrm>
            <a:off x="6400800" y="3291840"/>
            <a:ext cx="29260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418320" y="3291840"/>
            <a:ext cx="20116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00800" y="3310128"/>
            <a:ext cx="2926080" cy="274320"/>
          </a:xfrm>
          <a:prstGeom prst="rect">
            <a:avLst/>
          </a:prstGeom>
          <a:noFill/>
        </p:spPr>
        <p:txBody>
          <a:bodyPr wrap="square">
            <a:spAutoFit/>
          </a:bodyPr>
          <a:lstStyle/>
          <a:p>
            <a:pPr algn="ctr">
              <a:defRPr sz="1000" b="1">
                <a:solidFill>
                  <a:srgbClr val="FFFFFF"/>
                </a:solidFill>
              </a:defRPr>
            </a:pPr>
            <a:r>
              <a:t>GET /api/empleados</a:t>
            </a:r>
          </a:p>
        </p:txBody>
      </p:sp>
      <p:sp>
        <p:nvSpPr>
          <p:cNvPr id="63" name="TextBox 62"/>
          <p:cNvSpPr txBox="1"/>
          <p:nvPr/>
        </p:nvSpPr>
        <p:spPr>
          <a:xfrm>
            <a:off x="9418320" y="3310128"/>
            <a:ext cx="2011680" cy="274320"/>
          </a:xfrm>
          <a:prstGeom prst="rect">
            <a:avLst/>
          </a:prstGeom>
          <a:noFill/>
        </p:spPr>
        <p:txBody>
          <a:bodyPr wrap="square">
            <a:spAutoFit/>
          </a:bodyPr>
          <a:lstStyle/>
          <a:p>
            <a:pPr algn="l">
              <a:defRPr sz="1000" b="0">
                <a:solidFill>
                  <a:srgbClr val="CCDDEE"/>
                </a:solidFill>
              </a:defRPr>
            </a:pPr>
            <a:r>
              <a:t>Empleados</a:t>
            </a:r>
          </a:p>
        </p:txBody>
      </p:sp>
      <p:sp>
        <p:nvSpPr>
          <p:cNvPr id="64" name="Rectangle 63"/>
          <p:cNvSpPr/>
          <p:nvPr/>
        </p:nvSpPr>
        <p:spPr>
          <a:xfrm>
            <a:off x="6400800" y="3703320"/>
            <a:ext cx="29260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418320" y="3703320"/>
            <a:ext cx="2011680" cy="320040"/>
          </a:xfrm>
          <a:prstGeom prst="rect">
            <a:avLst/>
          </a:prstGeom>
          <a:solidFill>
            <a:srgbClr val="1E4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00800" y="3721607"/>
            <a:ext cx="2926080" cy="274320"/>
          </a:xfrm>
          <a:prstGeom prst="rect">
            <a:avLst/>
          </a:prstGeom>
          <a:noFill/>
        </p:spPr>
        <p:txBody>
          <a:bodyPr wrap="square">
            <a:spAutoFit/>
          </a:bodyPr>
          <a:lstStyle/>
          <a:p>
            <a:pPr algn="ctr">
              <a:defRPr sz="1000" b="1">
                <a:solidFill>
                  <a:srgbClr val="FFFFFF"/>
                </a:solidFill>
              </a:defRPr>
            </a:pPr>
            <a:r>
              <a:t>GET /api/indicadores/valores/actuales</a:t>
            </a:r>
          </a:p>
        </p:txBody>
      </p:sp>
      <p:sp>
        <p:nvSpPr>
          <p:cNvPr id="67" name="TextBox 66"/>
          <p:cNvSpPr txBox="1"/>
          <p:nvPr/>
        </p:nvSpPr>
        <p:spPr>
          <a:xfrm>
            <a:off x="9418320" y="3721607"/>
            <a:ext cx="2011680" cy="274320"/>
          </a:xfrm>
          <a:prstGeom prst="rect">
            <a:avLst/>
          </a:prstGeom>
          <a:noFill/>
        </p:spPr>
        <p:txBody>
          <a:bodyPr wrap="square">
            <a:spAutoFit/>
          </a:bodyPr>
          <a:lstStyle/>
          <a:p>
            <a:pPr algn="l">
              <a:defRPr sz="1000" b="0">
                <a:solidFill>
                  <a:srgbClr val="CCDDEE"/>
                </a:solidFill>
              </a:defRPr>
            </a:pPr>
            <a:r>
              <a:t>KPIs y métricas</a:t>
            </a:r>
          </a:p>
        </p:txBody>
      </p:sp>
      <p:sp>
        <p:nvSpPr>
          <p:cNvPr id="68" name="Rectangle 67"/>
          <p:cNvSpPr/>
          <p:nvPr/>
        </p:nvSpPr>
        <p:spPr>
          <a:xfrm>
            <a:off x="6400800" y="4114800"/>
            <a:ext cx="29260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418320" y="4114800"/>
            <a:ext cx="2011680" cy="320040"/>
          </a:xfrm>
          <a:prstGeom prst="rect">
            <a:avLst/>
          </a:prstGeom>
          <a:solidFill>
            <a:srgbClr val="244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0" y="4133087"/>
            <a:ext cx="2926080" cy="274320"/>
          </a:xfrm>
          <a:prstGeom prst="rect">
            <a:avLst/>
          </a:prstGeom>
          <a:noFill/>
        </p:spPr>
        <p:txBody>
          <a:bodyPr wrap="square">
            <a:spAutoFit/>
          </a:bodyPr>
          <a:lstStyle/>
          <a:p>
            <a:pPr algn="ctr">
              <a:defRPr sz="1000" b="1">
                <a:solidFill>
                  <a:srgbClr val="FFFFFF"/>
                </a:solidFill>
              </a:defRPr>
            </a:pPr>
            <a:r>
              <a:t>GET/POST /api/tickets</a:t>
            </a:r>
          </a:p>
        </p:txBody>
      </p:sp>
      <p:sp>
        <p:nvSpPr>
          <p:cNvPr id="71" name="TextBox 70"/>
          <p:cNvSpPr txBox="1"/>
          <p:nvPr/>
        </p:nvSpPr>
        <p:spPr>
          <a:xfrm>
            <a:off x="9418320" y="4133087"/>
            <a:ext cx="2011680" cy="274320"/>
          </a:xfrm>
          <a:prstGeom prst="rect">
            <a:avLst/>
          </a:prstGeom>
          <a:noFill/>
        </p:spPr>
        <p:txBody>
          <a:bodyPr wrap="square">
            <a:spAutoFit/>
          </a:bodyPr>
          <a:lstStyle/>
          <a:p>
            <a:pPr algn="l">
              <a:defRPr sz="1000" b="0">
                <a:solidFill>
                  <a:srgbClr val="CCDDEE"/>
                </a:solidFill>
              </a:defRPr>
            </a:pPr>
            <a:r>
              <a:t>Gestión de tickets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058400" cy="1371600"/>
          </a:xfrm>
          <a:prstGeom prst="rect">
            <a:avLst/>
          </a:prstGeom>
          <a:noFill/>
        </p:spPr>
        <p:txBody>
          <a:bodyPr wrap="square">
            <a:spAutoFit/>
          </a:bodyPr>
          <a:lstStyle/>
          <a:p>
            <a:pPr algn="ctr">
              <a:defRPr sz="5200" b="1">
                <a:solidFill>
                  <a:srgbClr val="FFFFFF"/>
                </a:solidFill>
              </a:defRPr>
            </a:pPr>
            <a:r>
              <a:t>¡Gracias!</a:t>
            </a:r>
          </a:p>
        </p:txBody>
      </p:sp>
      <p:sp>
        <p:nvSpPr>
          <p:cNvPr id="5" name="TextBox 4"/>
          <p:cNvSpPr txBox="1"/>
          <p:nvPr/>
        </p:nvSpPr>
        <p:spPr>
          <a:xfrm>
            <a:off x="914400" y="3474720"/>
            <a:ext cx="10058400" cy="731520"/>
          </a:xfrm>
          <a:prstGeom prst="rect">
            <a:avLst/>
          </a:prstGeom>
          <a:noFill/>
        </p:spPr>
        <p:txBody>
          <a:bodyPr wrap="square">
            <a:spAutoFit/>
          </a:bodyPr>
          <a:lstStyle/>
          <a:p>
            <a:pPr algn="ctr">
              <a:defRPr sz="1800" b="0">
                <a:solidFill>
                  <a:srgbClr val="CCDDEE"/>
                </a:solidFill>
              </a:defRPr>
            </a:pPr>
            <a:r>
              <a:t>Repositorio: github.com/Basty66/cordillera</a:t>
            </a:r>
          </a:p>
        </p:txBody>
      </p:sp>
      <p:sp>
        <p:nvSpPr>
          <p:cNvPr id="6" name="TextBox 5"/>
          <p:cNvSpPr txBox="1"/>
          <p:nvPr/>
        </p:nvSpPr>
        <p:spPr>
          <a:xfrm>
            <a:off x="914400" y="4023360"/>
            <a:ext cx="10058400" cy="731520"/>
          </a:xfrm>
          <a:prstGeom prst="rect">
            <a:avLst/>
          </a:prstGeom>
          <a:noFill/>
        </p:spPr>
        <p:txBody>
          <a:bodyPr wrap="square">
            <a:spAutoFit/>
          </a:bodyPr>
          <a:lstStyle/>
          <a:p>
            <a:pPr algn="ctr">
              <a:defRPr sz="1600" b="0">
                <a:solidFill>
                  <a:srgbClr val="CCDDEE"/>
                </a:solidFill>
              </a:defRPr>
            </a:pPr>
            <a:r>
              <a:t>Frontend: http://localhost:5173  |  API Gateway: http://localhost:8084</a:t>
            </a:r>
          </a:p>
        </p:txBody>
      </p:sp>
      <p:sp>
        <p:nvSpPr>
          <p:cNvPr id="7" name="TextBox 6"/>
          <p:cNvSpPr txBox="1"/>
          <p:nvPr/>
        </p:nvSpPr>
        <p:spPr>
          <a:xfrm>
            <a:off x="914400" y="4572000"/>
            <a:ext cx="10058400" cy="457200"/>
          </a:xfrm>
          <a:prstGeom prst="rect">
            <a:avLst/>
          </a:prstGeom>
          <a:noFill/>
        </p:spPr>
        <p:txBody>
          <a:bodyPr wrap="square">
            <a:spAutoFit/>
          </a:bodyPr>
          <a:lstStyle/>
          <a:p>
            <a:pPr algn="ctr">
              <a:defRPr sz="1400" b="0">
                <a:solidFill>
                  <a:srgbClr val="8899AA"/>
                </a:solidFill>
              </a:defRPr>
            </a:pPr>
            <a:r>
              <a:t>Versión 1.0.1 — Desarrollo Fullstack III — Duoc UC</a:t>
            </a:r>
          </a:p>
        </p:txBody>
      </p:sp>
      <p:sp>
        <p:nvSpPr>
          <p:cNvPr id="8" name="Rectangle 7"/>
          <p:cNvSpPr/>
          <p:nvPr/>
        </p:nvSpPr>
        <p:spPr>
          <a:xfrm>
            <a:off x="5029200" y="5303520"/>
            <a:ext cx="2103120" cy="457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5349240"/>
            <a:ext cx="2103120" cy="365760"/>
          </a:xfrm>
          <a:prstGeom prst="rect">
            <a:avLst/>
          </a:prstGeom>
          <a:noFill/>
        </p:spPr>
        <p:txBody>
          <a:bodyPr wrap="square">
            <a:spAutoFit/>
          </a:bodyPr>
          <a:lstStyle/>
          <a:p>
            <a:pPr algn="ctr">
              <a:defRPr sz="1800" b="1">
                <a:solidFill>
                  <a:srgbClr val="FFFFFF"/>
                </a:solidFill>
              </a:defRPr>
            </a:pPr>
            <a:r>
              <a:t>Grupo Cordillera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